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5" name="Shape 14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헬스케어 커리큘럼 </a:t>
            </a:r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교안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심화 과정</a:t>
            </a:r>
            <a:r>
              <a:t>)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과정 목표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데이터로 인체와 질병을 이해하는 첫걸음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목표는 </a:t>
            </a:r>
            <a:r>
              <a:t>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헬스케어 데이터를 어떻게 </a:t>
            </a:r>
            <a:r>
              <a:t>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보고</a:t>
            </a:r>
            <a:r>
              <a:t>' 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생각하는지</a:t>
            </a:r>
            <a:r>
              <a:t>'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 근본 원리를 이해하는 것입니다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우리는 환자의 복잡한 건강 정보를 컴퓨터가 이해할 수 있는 언어인 벡터와 행렬로 변환하고</a:t>
            </a:r>
            <a:r>
              <a:t>, 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예측을 수행하는 가장 기본적인 계산 원리인 가중합을 배웁니다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또한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데이터의 패턴을 시각적으로 이해하기 위한 함수와 그래프를 배우고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 전체의 특징을 한눈에 파악하는 기초 통계 방법론을 익힙니다</a:t>
            </a:r>
            <a:r>
              <a:t>.</a:t>
            </a:r>
          </a:p>
          <a:p>
            <a:pPr/>
            <a:r>
              <a:t>4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4" name="Shape 16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헬스케어 커리큘럼 </a:t>
            </a:r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교안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심화 과정</a:t>
            </a:r>
            <a:r>
              <a:t>)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과정 목표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데이터로 인체와 질병을 이해하는 첫걸음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목표는 </a:t>
            </a:r>
            <a:r>
              <a:t>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헬스케어 데이터를 어떻게 </a:t>
            </a:r>
            <a:r>
              <a:t>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보고</a:t>
            </a:r>
            <a:r>
              <a:t>' 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생각하는지</a:t>
            </a:r>
            <a:r>
              <a:t>'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 근본 원리를 이해하는 것입니다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우리는 환자의 복잡한 건강 정보를 컴퓨터가 이해할 수 있는 언어인 벡터와 행렬로 변환하고</a:t>
            </a:r>
            <a:r>
              <a:t>, 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예측을 수행하는 가장 기본적인 계산 원리인 가중합을 배웁니다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또한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데이터의 패턴을 시각적으로 이해하기 위한 함수와 그래프를 배우고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 전체의 특징을 한눈에 파악하는 기초 통계 방법론을 익힙니다</a:t>
            </a:r>
            <a:r>
              <a:t>.</a:t>
            </a:r>
          </a:p>
          <a:p>
            <a:pPr/>
            <a:r>
              <a:t>4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8" name="Shape 1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헬스케어 커리큘럼 </a:t>
            </a:r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교안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심화 과정</a:t>
            </a:r>
            <a:r>
              <a:t>)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과정 목표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데이터로 인체와 질병을 이해하는 첫걸음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목표는 </a:t>
            </a:r>
            <a:r>
              <a:t>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헬스케어 데이터를 어떻게 </a:t>
            </a:r>
            <a:r>
              <a:t>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보고</a:t>
            </a:r>
            <a:r>
              <a:t>' 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생각하는지</a:t>
            </a:r>
            <a:r>
              <a:t>'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 근본 원리를 이해하는 것입니다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우리는 환자의 복잡한 건강 정보를 컴퓨터가 이해할 수 있는 언어인 벡터와 행렬로 변환하고</a:t>
            </a:r>
            <a:r>
              <a:t>, 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예측을 수행하는 가장 기본적인 계산 원리인 가중합을 배웁니다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또한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데이터의 패턴을 시각적으로 이해하기 위한 함수와 그래프를 배우고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 전체의 특징을 한눈에 파악하는 기초 통계 방법론을 익힙니다</a:t>
            </a:r>
            <a:r>
              <a:t>.</a:t>
            </a:r>
          </a:p>
          <a:p>
            <a:pPr/>
            <a:r>
              <a:t>4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6" name="Shape 21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헬스케어 커리큘럼 </a:t>
            </a:r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교안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심화 과정</a:t>
            </a:r>
            <a:r>
              <a:t>)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과정 목표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데이터로 인체와 질병을 이해하는 첫걸음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목표는 </a:t>
            </a:r>
            <a:r>
              <a:t>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헬스케어 데이터를 어떻게 </a:t>
            </a:r>
            <a:r>
              <a:t>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보고</a:t>
            </a:r>
            <a:r>
              <a:t>' 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생각하는지</a:t>
            </a:r>
            <a:r>
              <a:t>'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 근본 원리를 이해하는 것입니다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우리는 환자의 복잡한 건강 정보를 컴퓨터가 이해할 수 있는 언어인 벡터와 행렬로 변환하고</a:t>
            </a:r>
            <a:r>
              <a:t>, 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예측을 수행하는 가장 기본적인 계산 원리인 가중합을 배웁니다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또한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데이터의 패턴을 시각적으로 이해하기 위한 함수와 그래프를 배우고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 전체의 특징을 한눈에 파악하는 기초 통계 방법론을 익힙니다</a:t>
            </a:r>
            <a:r>
              <a:t>.</a:t>
            </a:r>
          </a:p>
          <a:p>
            <a:pPr/>
            <a:r>
              <a:t>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1" name="Shape 2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헬스케어 커리큘럼 </a:t>
            </a:r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교안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심화 과정</a:t>
            </a:r>
            <a:r>
              <a:t>)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과정 목표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데이터로 인체와 질병을 이해하는 첫걸음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목표는 </a:t>
            </a:r>
            <a:r>
              <a:t>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헬스케어 데이터를 어떻게 </a:t>
            </a:r>
            <a:r>
              <a:t>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보고</a:t>
            </a:r>
            <a:r>
              <a:t>' 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생각하는지</a:t>
            </a:r>
            <a:r>
              <a:t>'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 근본 원리를 이해하는 것입니다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우리는 환자의 복잡한 건강 정보를 컴퓨터가 이해할 수 있는 언어인 벡터와 행렬로 변환하고</a:t>
            </a:r>
            <a:r>
              <a:t>, 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예측을 수행하는 가장 기본적인 계산 원리인 가중합을 배웁니다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또한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데이터의 패턴을 시각적으로 이해하기 위한 함수와 그래프를 배우고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 전체의 특징을 한눈에 파악하는 기초 통계 방법론을 익힙니다</a:t>
            </a:r>
            <a:r>
              <a:t>.</a:t>
            </a:r>
          </a:p>
          <a:p>
            <a:pPr/>
            <a:r>
              <a:t>4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6" name="Shape 24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헬스케어 커리큘럼 </a:t>
            </a:r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교안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심화 과정</a:t>
            </a:r>
            <a:r>
              <a:t>)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과정 목표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데이터로 인체와 질병을 이해하는 첫걸음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목표는 </a:t>
            </a:r>
            <a:r>
              <a:t>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헬스케어 데이터를 어떻게 </a:t>
            </a:r>
            <a:r>
              <a:t>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보고</a:t>
            </a:r>
            <a:r>
              <a:t>' 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생각하는지</a:t>
            </a:r>
            <a:r>
              <a:t>'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 근본 원리를 이해하는 것입니다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우리는 환자의 복잡한 건강 정보를 컴퓨터가 이해할 수 있는 언어인 벡터와 행렬로 변환하고</a:t>
            </a:r>
            <a:r>
              <a:t>, 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예측을 수행하는 가장 기본적인 계산 원리인 가중합을 배웁니다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또한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데이터의 패턴을 시각적으로 이해하기 위한 함수와 그래프를 배우고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 전체의 특징을 한눈에 파악하는 기초 통계 방법론을 익힙니다</a:t>
            </a:r>
            <a:r>
              <a:t>.</a:t>
            </a:r>
          </a:p>
          <a:p>
            <a:pPr/>
            <a:r>
              <a:t>4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5" name="Shape 26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헬스케어 커리큘럼 </a:t>
            </a:r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교안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심화 과정</a:t>
            </a:r>
            <a:r>
              <a:t>)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과정 목표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데이터로 인체와 질병을 이해하는 첫걸음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목표는 </a:t>
            </a:r>
            <a:r>
              <a:t>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헬스케어 데이터를 어떻게 </a:t>
            </a:r>
            <a:r>
              <a:t>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보고</a:t>
            </a:r>
            <a:r>
              <a:t>' 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생각하는지</a:t>
            </a:r>
            <a:r>
              <a:t>'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 근본 원리를 이해하는 것입니다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우리는 환자의 복잡한 건강 정보를 컴퓨터가 이해할 수 있는 언어인 벡터와 행렬로 변환하고</a:t>
            </a:r>
            <a:r>
              <a:t>, 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예측을 수행하는 가장 기본적인 계산 원리인 가중합을 배웁니다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또한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데이터의 패턴을 시각적으로 이해하기 위한 함수와 그래프를 배우고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 전체의 특징을 한눈에 파악하는 기초 통계 방법론을 익힙니다</a:t>
            </a:r>
            <a:r>
              <a:t>.</a:t>
            </a:r>
          </a:p>
          <a:p>
            <a:pPr/>
            <a:r>
              <a:t>4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8" name="Shape 2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헬스케어 커리큘럼 </a:t>
            </a:r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교안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심화 과정</a:t>
            </a:r>
            <a:r>
              <a:t>)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과정 목표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데이터로 인체와 질병을 이해하는 첫걸음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목표는 </a:t>
            </a:r>
            <a:r>
              <a:t>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헬스케어 데이터를 어떻게 </a:t>
            </a:r>
            <a:r>
              <a:t>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보고</a:t>
            </a:r>
            <a:r>
              <a:t>' 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생각하는지</a:t>
            </a:r>
            <a:r>
              <a:t>'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 근본 원리를 이해하는 것입니다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우리는 환자의 복잡한 건강 정보를 컴퓨터가 이해할 수 있는 언어인 벡터와 행렬로 변환하고</a:t>
            </a:r>
            <a:r>
              <a:t>, 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예측을 수행하는 가장 기본적인 계산 원리인 가중합을 배웁니다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또한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데이터의 패턴을 시각적으로 이해하기 위한 함수와 그래프를 배우고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 전체의 특징을 한눈에 파악하는 기초 통계 방법론을 익힙니다</a:t>
            </a:r>
            <a:r>
              <a:t>.</a:t>
            </a:r>
          </a:p>
          <a:p>
            <a:pPr/>
            <a:r>
              <a:t>4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6" name="Shape 2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헬스케어 커리큘럼 </a:t>
            </a:r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교안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심화 과정</a:t>
            </a:r>
            <a:r>
              <a:t>)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과정 목표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데이터로 인체와 질병을 이해하는 첫걸음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목표는 </a:t>
            </a:r>
            <a:r>
              <a:t>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헬스케어 데이터를 어떻게 </a:t>
            </a:r>
            <a:r>
              <a:t>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보고</a:t>
            </a:r>
            <a:r>
              <a:t>' 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생각하는지</a:t>
            </a:r>
            <a:r>
              <a:t>'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 근본 원리를 이해하는 것입니다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우리는 환자의 복잡한 건강 정보를 컴퓨터가 이해할 수 있는 언어인 벡터와 행렬로 변환하고</a:t>
            </a:r>
            <a:r>
              <a:t>, 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예측을 수행하는 가장 기본적인 계산 원리인 가중합을 배웁니다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또한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데이터의 패턴을 시각적으로 이해하기 위한 함수와 그래프를 배우고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 전체의 특징을 한눈에 파악하는 기초 통계 방법론을 익힙니다</a:t>
            </a:r>
            <a:r>
              <a:t>.</a:t>
            </a:r>
          </a:p>
          <a:p>
            <a:pPr/>
            <a:r>
              <a:t>4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1" name="Shape 31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헬스케어 커리큘럼 </a:t>
            </a:r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교안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심화 과정</a:t>
            </a:r>
            <a:r>
              <a:t>)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과정 목표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데이터로 인체와 질병을 이해하는 첫걸음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목표는 </a:t>
            </a:r>
            <a:r>
              <a:t>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헬스케어 데이터를 어떻게 </a:t>
            </a:r>
            <a:r>
              <a:t>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보고</a:t>
            </a:r>
            <a:r>
              <a:t>' 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생각하는지</a:t>
            </a:r>
            <a:r>
              <a:t>'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 근본 원리를 이해하는 것입니다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우리는 환자의 복잡한 건강 정보를 컴퓨터가 이해할 수 있는 언어인 벡터와 행렬로 변환하고</a:t>
            </a:r>
            <a:r>
              <a:t>, 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예측을 수행하는 가장 기본적인 계산 원리인 가중합을 배웁니다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또한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데이터의 패턴을 시각적으로 이해하기 위한 함수와 그래프를 배우고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 전체의 특징을 한눈에 파악하는 기초 통계 방법론을 익힙니다</a:t>
            </a:r>
            <a:r>
              <a:t>.</a:t>
            </a:r>
          </a:p>
          <a:p>
            <a:pPr/>
            <a:r>
              <a:t>4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4" name="Shape 3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헬스케어 커리큘럼 </a:t>
            </a:r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교안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심화 과정</a:t>
            </a:r>
            <a:r>
              <a:t>)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과정 목표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데이터로 인체와 질병을 이해하는 첫걸음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목표는 </a:t>
            </a:r>
            <a:r>
              <a:t>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헬스케어 데이터를 어떻게 </a:t>
            </a:r>
            <a:r>
              <a:t>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보고</a:t>
            </a:r>
            <a:r>
              <a:t>' 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생각하는지</a:t>
            </a:r>
            <a:r>
              <a:t>'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 근본 원리를 이해하는 것입니다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우리는 환자의 복잡한 건강 정보를 컴퓨터가 이해할 수 있는 언어인 벡터와 행렬로 변환하고</a:t>
            </a:r>
            <a:r>
              <a:t>, 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예측을 수행하는 가장 기본적인 계산 원리인 가중합을 배웁니다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또한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데이터의 패턴을 시각적으로 이해하기 위한 함수와 그래프를 배우고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 전체의 특징을 한눈에 파악하는 기초 통계 방법론을 익힙니다</a:t>
            </a:r>
            <a:r>
              <a:t>.</a:t>
            </a:r>
          </a:p>
          <a:p>
            <a:pPr/>
            <a:r>
              <a:t>4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33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40" name="Shape 34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헬스케어 커리큘럼 </a:t>
            </a:r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교안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심화 과정</a:t>
            </a:r>
            <a:r>
              <a:t>)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과정 목표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데이터로 인체와 질병을 이해하는 첫걸음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목표는 </a:t>
            </a:r>
            <a:r>
              <a:t>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헬스케어 데이터를 어떻게 </a:t>
            </a:r>
            <a:r>
              <a:t>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보고</a:t>
            </a:r>
            <a:r>
              <a:t>' 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생각하는지</a:t>
            </a:r>
            <a:r>
              <a:t>'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 근본 원리를 이해하는 것입니다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우리는 환자의 복잡한 건강 정보를 컴퓨터가 이해할 수 있는 언어인 벡터와 행렬로 변환하고</a:t>
            </a:r>
            <a:r>
              <a:t>, 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예측을 수행하는 가장 기본적인 계산 원리인 가중합을 배웁니다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또한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데이터의 패턴을 시각적으로 이해하기 위한 함수와 그래프를 배우고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 전체의 특징을 한눈에 파악하는 기초 통계 방법론을 익힙니다</a:t>
            </a:r>
            <a:r>
              <a:t>.</a:t>
            </a:r>
          </a:p>
          <a:p>
            <a:pPr/>
            <a:r>
              <a:t>4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35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3" name="Shape 35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헬스케어 커리큘럼 </a:t>
            </a:r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교안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심화 과정</a:t>
            </a:r>
            <a:r>
              <a:t>)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과정 목표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데이터로 인체와 질병을 이해하는 첫걸음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일차 목표는 </a:t>
            </a:r>
            <a:r>
              <a:t>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헬스케어 데이터를 어떻게 </a:t>
            </a:r>
            <a:r>
              <a:t>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보고</a:t>
            </a:r>
            <a:r>
              <a:t>' '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생각하는지</a:t>
            </a:r>
            <a:r>
              <a:t>'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 근본 원리를 이해하는 것입니다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우리는 환자의 복잡한 건강 정보를 컴퓨터가 이해할 수 있는 언어인 벡터와 행렬로 변환하고</a:t>
            </a:r>
            <a:r>
              <a:t>, AI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예측을 수행하는 가장 기본적인 계산 원리인 가중합을 배웁니다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또한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데이터의 패턴을 시각적으로 이해하기 위한 함수와 그래프를 배우고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데이터 전체의 특징을 한눈에 파악하는 기초 통계 방법론을 익힙니다</a:t>
            </a:r>
            <a:r>
              <a:t>.</a:t>
            </a:r>
          </a:p>
          <a:p>
            <a:pPr/>
            <a:r>
              <a:t>4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2"/>
          <p:cNvSpPr/>
          <p:nvPr/>
        </p:nvSpPr>
        <p:spPr>
          <a:xfrm>
            <a:off x="9144000" y="0"/>
            <a:ext cx="9144000" cy="51435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Freeform 3"/>
          <p:cNvSpPr/>
          <p:nvPr/>
        </p:nvSpPr>
        <p:spPr>
          <a:xfrm>
            <a:off x="0" y="-19050"/>
            <a:ext cx="9144000" cy="51435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Freeform 4"/>
          <p:cNvSpPr/>
          <p:nvPr/>
        </p:nvSpPr>
        <p:spPr>
          <a:xfrm rot="10800000">
            <a:off x="0" y="5143500"/>
            <a:ext cx="9144000" cy="51435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Freeform 5"/>
          <p:cNvSpPr/>
          <p:nvPr/>
        </p:nvSpPr>
        <p:spPr>
          <a:xfrm rot="10800000">
            <a:off x="9117531" y="5143489"/>
            <a:ext cx="9170469" cy="51435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TextBox 6"/>
          <p:cNvSpPr txBox="1"/>
          <p:nvPr/>
        </p:nvSpPr>
        <p:spPr>
          <a:xfrm>
            <a:off x="1632679" y="312314"/>
            <a:ext cx="3657601" cy="412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>
                <a:solidFill>
                  <a:srgbClr val="595959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pPr/>
            <a:r>
              <a:t>AI 헬스케어 초격차 캠프 </a:t>
            </a:r>
          </a:p>
        </p:txBody>
      </p:sp>
      <p:grpSp>
        <p:nvGrpSpPr>
          <p:cNvPr id="101" name="Group 7"/>
          <p:cNvGrpSpPr/>
          <p:nvPr/>
        </p:nvGrpSpPr>
        <p:grpSpPr>
          <a:xfrm>
            <a:off x="481364" y="1131074"/>
            <a:ext cx="17272351" cy="8840629"/>
            <a:chOff x="0" y="0"/>
            <a:chExt cx="17272350" cy="8840627"/>
          </a:xfrm>
        </p:grpSpPr>
        <p:sp>
          <p:nvSpPr>
            <p:cNvPr id="99" name="Freeform 8"/>
            <p:cNvSpPr/>
            <p:nvPr/>
          </p:nvSpPr>
          <p:spPr>
            <a:xfrm>
              <a:off x="9524" y="9524"/>
              <a:ext cx="17253301" cy="8821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25"/>
                  </a:moveTo>
                  <a:cubicBezTo>
                    <a:pt x="0" y="235"/>
                    <a:pt x="120" y="0"/>
                    <a:pt x="269" y="0"/>
                  </a:cubicBezTo>
                  <a:lnTo>
                    <a:pt x="21331" y="0"/>
                  </a:lnTo>
                  <a:cubicBezTo>
                    <a:pt x="21480" y="0"/>
                    <a:pt x="21600" y="235"/>
                    <a:pt x="21600" y="525"/>
                  </a:cubicBezTo>
                  <a:lnTo>
                    <a:pt x="21600" y="21075"/>
                  </a:lnTo>
                  <a:cubicBezTo>
                    <a:pt x="21600" y="21365"/>
                    <a:pt x="21480" y="21600"/>
                    <a:pt x="21331" y="21600"/>
                  </a:cubicBezTo>
                  <a:lnTo>
                    <a:pt x="269" y="21600"/>
                  </a:lnTo>
                  <a:cubicBezTo>
                    <a:pt x="120" y="21600"/>
                    <a:pt x="0" y="21365"/>
                    <a:pt x="0" y="2107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0" name="Freeform 9"/>
            <p:cNvSpPr/>
            <p:nvPr/>
          </p:nvSpPr>
          <p:spPr>
            <a:xfrm>
              <a:off x="-1" y="-1"/>
              <a:ext cx="17272351" cy="8840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47"/>
                  </a:moveTo>
                  <a:cubicBezTo>
                    <a:pt x="0" y="245"/>
                    <a:pt x="125" y="0"/>
                    <a:pt x="280" y="0"/>
                  </a:cubicBezTo>
                  <a:lnTo>
                    <a:pt x="21320" y="0"/>
                  </a:lnTo>
                  <a:lnTo>
                    <a:pt x="21320" y="23"/>
                  </a:lnTo>
                  <a:lnTo>
                    <a:pt x="21320" y="0"/>
                  </a:lnTo>
                  <a:cubicBezTo>
                    <a:pt x="21475" y="0"/>
                    <a:pt x="21600" y="245"/>
                    <a:pt x="21600" y="547"/>
                  </a:cubicBezTo>
                  <a:lnTo>
                    <a:pt x="21588" y="547"/>
                  </a:lnTo>
                  <a:lnTo>
                    <a:pt x="21600" y="547"/>
                  </a:lnTo>
                  <a:lnTo>
                    <a:pt x="21600" y="21053"/>
                  </a:lnTo>
                  <a:lnTo>
                    <a:pt x="21588" y="21053"/>
                  </a:lnTo>
                  <a:lnTo>
                    <a:pt x="21600" y="21053"/>
                  </a:lnTo>
                  <a:cubicBezTo>
                    <a:pt x="21600" y="21355"/>
                    <a:pt x="21475" y="21600"/>
                    <a:pt x="21320" y="21600"/>
                  </a:cubicBezTo>
                  <a:lnTo>
                    <a:pt x="21320" y="21577"/>
                  </a:lnTo>
                  <a:lnTo>
                    <a:pt x="21320" y="21600"/>
                  </a:lnTo>
                  <a:lnTo>
                    <a:pt x="280" y="21600"/>
                  </a:lnTo>
                  <a:lnTo>
                    <a:pt x="280" y="21577"/>
                  </a:lnTo>
                  <a:lnTo>
                    <a:pt x="280" y="21600"/>
                  </a:lnTo>
                  <a:cubicBezTo>
                    <a:pt x="125" y="21600"/>
                    <a:pt x="0" y="21355"/>
                    <a:pt x="0" y="21053"/>
                  </a:cubicBezTo>
                  <a:lnTo>
                    <a:pt x="0" y="547"/>
                  </a:lnTo>
                  <a:lnTo>
                    <a:pt x="12" y="547"/>
                  </a:lnTo>
                  <a:lnTo>
                    <a:pt x="0" y="547"/>
                  </a:lnTo>
                  <a:moveTo>
                    <a:pt x="24" y="547"/>
                  </a:moveTo>
                  <a:lnTo>
                    <a:pt x="24" y="21053"/>
                  </a:lnTo>
                  <a:lnTo>
                    <a:pt x="12" y="21053"/>
                  </a:lnTo>
                  <a:lnTo>
                    <a:pt x="24" y="21053"/>
                  </a:lnTo>
                  <a:cubicBezTo>
                    <a:pt x="24" y="21329"/>
                    <a:pt x="139" y="21553"/>
                    <a:pt x="280" y="21553"/>
                  </a:cubicBezTo>
                  <a:lnTo>
                    <a:pt x="21320" y="21553"/>
                  </a:lnTo>
                  <a:cubicBezTo>
                    <a:pt x="21461" y="21553"/>
                    <a:pt x="21576" y="21329"/>
                    <a:pt x="21576" y="21053"/>
                  </a:cubicBezTo>
                  <a:lnTo>
                    <a:pt x="21576" y="547"/>
                  </a:lnTo>
                  <a:cubicBezTo>
                    <a:pt x="21576" y="271"/>
                    <a:pt x="21461" y="47"/>
                    <a:pt x="21320" y="47"/>
                  </a:cubicBezTo>
                  <a:lnTo>
                    <a:pt x="280" y="47"/>
                  </a:lnTo>
                  <a:lnTo>
                    <a:pt x="280" y="23"/>
                  </a:lnTo>
                  <a:lnTo>
                    <a:pt x="280" y="47"/>
                  </a:lnTo>
                  <a:cubicBezTo>
                    <a:pt x="139" y="47"/>
                    <a:pt x="24" y="271"/>
                    <a:pt x="24" y="547"/>
                  </a:cubicBezTo>
                  <a:close/>
                </a:path>
              </a:pathLst>
            </a:custGeom>
            <a:solidFill>
              <a:srgbClr val="BFBFB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02" name="TextBox 10"/>
          <p:cNvSpPr txBox="1"/>
          <p:nvPr/>
        </p:nvSpPr>
        <p:spPr>
          <a:xfrm>
            <a:off x="582330" y="282263"/>
            <a:ext cx="945680" cy="553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300"/>
              </a:lnSpc>
              <a:defRPr b="1" sz="3600">
                <a:solidFill>
                  <a:srgbClr val="595959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OZ</a:t>
            </a:r>
            <a:r>
              <a:rPr>
                <a:solidFill>
                  <a:srgbClr val="A02B93"/>
                </a:solidFill>
              </a:rPr>
              <a:t>.</a:t>
            </a:r>
          </a:p>
        </p:txBody>
      </p:sp>
      <p:grpSp>
        <p:nvGrpSpPr>
          <p:cNvPr id="105" name="Group 11"/>
          <p:cNvGrpSpPr/>
          <p:nvPr/>
        </p:nvGrpSpPr>
        <p:grpSpPr>
          <a:xfrm>
            <a:off x="5056459" y="2664711"/>
            <a:ext cx="8194132" cy="4947065"/>
            <a:chOff x="0" y="0"/>
            <a:chExt cx="8194130" cy="4947063"/>
          </a:xfrm>
        </p:grpSpPr>
        <p:sp>
          <p:nvSpPr>
            <p:cNvPr id="103" name="AutoShape 12"/>
            <p:cNvSpPr/>
            <p:nvPr/>
          </p:nvSpPr>
          <p:spPr>
            <a:xfrm>
              <a:off x="0" y="0"/>
              <a:ext cx="8194131" cy="0"/>
            </a:xfrm>
            <a:prstGeom prst="line">
              <a:avLst/>
            </a:prstGeom>
            <a:noFill/>
            <a:ln w="38100" cap="rnd">
              <a:solidFill>
                <a:srgbClr val="44444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4" name="AutoShape 13"/>
            <p:cNvSpPr/>
            <p:nvPr/>
          </p:nvSpPr>
          <p:spPr>
            <a:xfrm>
              <a:off x="0" y="4947063"/>
              <a:ext cx="8194131" cy="1"/>
            </a:xfrm>
            <a:prstGeom prst="line">
              <a:avLst/>
            </a:prstGeom>
            <a:noFill/>
            <a:ln w="38100" cap="rnd">
              <a:solidFill>
                <a:srgbClr val="44444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06" name="Freeform 15"/>
          <p:cNvSpPr/>
          <p:nvPr/>
        </p:nvSpPr>
        <p:spPr>
          <a:xfrm rot="10800000">
            <a:off x="4903873" y="4007823"/>
            <a:ext cx="8785054" cy="867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fill="norm" stroke="1" extrusionOk="0">
                <a:moveTo>
                  <a:pt x="21076" y="0"/>
                </a:moveTo>
                <a:lnTo>
                  <a:pt x="12" y="0"/>
                </a:lnTo>
                <a:cubicBezTo>
                  <a:pt x="8" y="0"/>
                  <a:pt x="4" y="17"/>
                  <a:pt x="2" y="47"/>
                </a:cubicBezTo>
                <a:cubicBezTo>
                  <a:pt x="0" y="77"/>
                  <a:pt x="-1" y="116"/>
                  <a:pt x="0" y="152"/>
                </a:cubicBezTo>
                <a:lnTo>
                  <a:pt x="502" y="21448"/>
                </a:lnTo>
                <a:cubicBezTo>
                  <a:pt x="505" y="21537"/>
                  <a:pt x="512" y="21600"/>
                  <a:pt x="522" y="21600"/>
                </a:cubicBezTo>
                <a:lnTo>
                  <a:pt x="21586" y="21600"/>
                </a:lnTo>
                <a:cubicBezTo>
                  <a:pt x="21590" y="21600"/>
                  <a:pt x="21594" y="21583"/>
                  <a:pt x="21596" y="21553"/>
                </a:cubicBezTo>
                <a:cubicBezTo>
                  <a:pt x="21598" y="21523"/>
                  <a:pt x="21599" y="21484"/>
                  <a:pt x="21598" y="21448"/>
                </a:cubicBezTo>
                <a:lnTo>
                  <a:pt x="21096" y="152"/>
                </a:lnTo>
                <a:cubicBezTo>
                  <a:pt x="21093" y="63"/>
                  <a:pt x="21086" y="0"/>
                  <a:pt x="21076" y="0"/>
                </a:cubicBezTo>
                <a:close/>
              </a:path>
            </a:pathLst>
          </a:custGeom>
          <a:solidFill>
            <a:srgbClr val="FFF1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Box 17"/>
          <p:cNvSpPr txBox="1"/>
          <p:nvPr/>
        </p:nvSpPr>
        <p:spPr>
          <a:xfrm>
            <a:off x="2226171" y="4712248"/>
            <a:ext cx="14159508" cy="1623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2600"/>
              </a:lnSpc>
              <a:defRPr b="1" spc="-233" sz="9000">
                <a:solidFill>
                  <a:srgbClr val="444444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defRPr>
            </a:lvl1pPr>
          </a:lstStyle>
          <a:p>
            <a:pPr/>
            <a:r>
              <a:t>헬스케어 데이터 분석 및 시각화</a:t>
            </a:r>
          </a:p>
        </p:txBody>
      </p:sp>
      <p:sp>
        <p:nvSpPr>
          <p:cNvPr id="108" name="TextBox 18"/>
          <p:cNvSpPr txBox="1"/>
          <p:nvPr/>
        </p:nvSpPr>
        <p:spPr>
          <a:xfrm>
            <a:off x="5332808" y="3194597"/>
            <a:ext cx="7946233" cy="1623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2600"/>
              </a:lnSpc>
              <a:defRPr b="1" spc="-323" sz="9000">
                <a:solidFill>
                  <a:srgbClr val="444444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defRPr>
            </a:lvl1pPr>
          </a:lstStyle>
          <a:p>
            <a:pPr/>
            <a:r>
              <a:t>Python을 활용한</a:t>
            </a:r>
          </a:p>
        </p:txBody>
      </p:sp>
      <p:sp>
        <p:nvSpPr>
          <p:cNvPr id="109" name="TextBox 19"/>
          <p:cNvSpPr txBox="1"/>
          <p:nvPr/>
        </p:nvSpPr>
        <p:spPr>
          <a:xfrm>
            <a:off x="5969198" y="6647151"/>
            <a:ext cx="6673454" cy="541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200"/>
              </a:lnSpc>
              <a:defRPr spc="-165" sz="3000">
                <a:solidFill>
                  <a:srgbClr val="444444"/>
                </a:solidFill>
                <a:latin typeface="윤고딕 Medium"/>
                <a:ea typeface="윤고딕 Medium"/>
                <a:cs typeface="윤고딕 Medium"/>
                <a:sym typeface="윤고딕 Medium"/>
              </a:defRPr>
            </a:lvl1pPr>
          </a:lstStyle>
          <a:p>
            <a:pPr/>
            <a:r>
              <a:t>복잡한  데이터를 유의미한 인사이트로 도출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reeform 2"/>
          <p:cNvSpPr/>
          <p:nvPr/>
        </p:nvSpPr>
        <p:spPr>
          <a:xfrm>
            <a:off x="9144000" y="0"/>
            <a:ext cx="9144000" cy="51435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Freeform 3"/>
          <p:cNvSpPr/>
          <p:nvPr/>
        </p:nvSpPr>
        <p:spPr>
          <a:xfrm>
            <a:off x="0" y="-19050"/>
            <a:ext cx="9144000" cy="51435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Freeform 4"/>
          <p:cNvSpPr/>
          <p:nvPr/>
        </p:nvSpPr>
        <p:spPr>
          <a:xfrm rot="10800000">
            <a:off x="0" y="5143500"/>
            <a:ext cx="9144000" cy="51435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Freeform 5"/>
          <p:cNvSpPr/>
          <p:nvPr/>
        </p:nvSpPr>
        <p:spPr>
          <a:xfrm rot="10800000">
            <a:off x="9117531" y="5143489"/>
            <a:ext cx="9170469" cy="51435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Box 6"/>
          <p:cNvSpPr txBox="1"/>
          <p:nvPr/>
        </p:nvSpPr>
        <p:spPr>
          <a:xfrm>
            <a:off x="1632679" y="312314"/>
            <a:ext cx="3657601" cy="412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>
                <a:solidFill>
                  <a:srgbClr val="595959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pPr/>
            <a:r>
              <a:t>AI 헬스케어 초격차 캠프 </a:t>
            </a:r>
          </a:p>
        </p:txBody>
      </p:sp>
      <p:grpSp>
        <p:nvGrpSpPr>
          <p:cNvPr id="118" name="Group 7"/>
          <p:cNvGrpSpPr/>
          <p:nvPr/>
        </p:nvGrpSpPr>
        <p:grpSpPr>
          <a:xfrm>
            <a:off x="481364" y="1131074"/>
            <a:ext cx="17272351" cy="8840629"/>
            <a:chOff x="0" y="0"/>
            <a:chExt cx="17272350" cy="8840627"/>
          </a:xfrm>
        </p:grpSpPr>
        <p:sp>
          <p:nvSpPr>
            <p:cNvPr id="116" name="Freeform 8"/>
            <p:cNvSpPr/>
            <p:nvPr/>
          </p:nvSpPr>
          <p:spPr>
            <a:xfrm>
              <a:off x="9524" y="9524"/>
              <a:ext cx="17253301" cy="8821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25"/>
                  </a:moveTo>
                  <a:cubicBezTo>
                    <a:pt x="0" y="235"/>
                    <a:pt x="120" y="0"/>
                    <a:pt x="269" y="0"/>
                  </a:cubicBezTo>
                  <a:lnTo>
                    <a:pt x="21331" y="0"/>
                  </a:lnTo>
                  <a:cubicBezTo>
                    <a:pt x="21480" y="0"/>
                    <a:pt x="21600" y="235"/>
                    <a:pt x="21600" y="525"/>
                  </a:cubicBezTo>
                  <a:lnTo>
                    <a:pt x="21600" y="21075"/>
                  </a:lnTo>
                  <a:cubicBezTo>
                    <a:pt x="21600" y="21365"/>
                    <a:pt x="21480" y="21600"/>
                    <a:pt x="21331" y="21600"/>
                  </a:cubicBezTo>
                  <a:lnTo>
                    <a:pt x="269" y="21600"/>
                  </a:lnTo>
                  <a:cubicBezTo>
                    <a:pt x="120" y="21600"/>
                    <a:pt x="0" y="21365"/>
                    <a:pt x="0" y="2107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7" name="Freeform 9"/>
            <p:cNvSpPr/>
            <p:nvPr/>
          </p:nvSpPr>
          <p:spPr>
            <a:xfrm>
              <a:off x="-1" y="-1"/>
              <a:ext cx="17272351" cy="8840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47"/>
                  </a:moveTo>
                  <a:cubicBezTo>
                    <a:pt x="0" y="245"/>
                    <a:pt x="125" y="0"/>
                    <a:pt x="280" y="0"/>
                  </a:cubicBezTo>
                  <a:lnTo>
                    <a:pt x="21320" y="0"/>
                  </a:lnTo>
                  <a:lnTo>
                    <a:pt x="21320" y="23"/>
                  </a:lnTo>
                  <a:lnTo>
                    <a:pt x="21320" y="0"/>
                  </a:lnTo>
                  <a:cubicBezTo>
                    <a:pt x="21475" y="0"/>
                    <a:pt x="21600" y="245"/>
                    <a:pt x="21600" y="547"/>
                  </a:cubicBezTo>
                  <a:lnTo>
                    <a:pt x="21588" y="547"/>
                  </a:lnTo>
                  <a:lnTo>
                    <a:pt x="21600" y="547"/>
                  </a:lnTo>
                  <a:lnTo>
                    <a:pt x="21600" y="21053"/>
                  </a:lnTo>
                  <a:lnTo>
                    <a:pt x="21588" y="21053"/>
                  </a:lnTo>
                  <a:lnTo>
                    <a:pt x="21600" y="21053"/>
                  </a:lnTo>
                  <a:cubicBezTo>
                    <a:pt x="21600" y="21355"/>
                    <a:pt x="21475" y="21600"/>
                    <a:pt x="21320" y="21600"/>
                  </a:cubicBezTo>
                  <a:lnTo>
                    <a:pt x="21320" y="21577"/>
                  </a:lnTo>
                  <a:lnTo>
                    <a:pt x="21320" y="21600"/>
                  </a:lnTo>
                  <a:lnTo>
                    <a:pt x="280" y="21600"/>
                  </a:lnTo>
                  <a:lnTo>
                    <a:pt x="280" y="21577"/>
                  </a:lnTo>
                  <a:lnTo>
                    <a:pt x="280" y="21600"/>
                  </a:lnTo>
                  <a:cubicBezTo>
                    <a:pt x="125" y="21600"/>
                    <a:pt x="0" y="21355"/>
                    <a:pt x="0" y="21053"/>
                  </a:cubicBezTo>
                  <a:lnTo>
                    <a:pt x="0" y="547"/>
                  </a:lnTo>
                  <a:lnTo>
                    <a:pt x="12" y="547"/>
                  </a:lnTo>
                  <a:lnTo>
                    <a:pt x="0" y="547"/>
                  </a:lnTo>
                  <a:moveTo>
                    <a:pt x="24" y="547"/>
                  </a:moveTo>
                  <a:lnTo>
                    <a:pt x="24" y="21053"/>
                  </a:lnTo>
                  <a:lnTo>
                    <a:pt x="12" y="21053"/>
                  </a:lnTo>
                  <a:lnTo>
                    <a:pt x="24" y="21053"/>
                  </a:lnTo>
                  <a:cubicBezTo>
                    <a:pt x="24" y="21329"/>
                    <a:pt x="139" y="21553"/>
                    <a:pt x="280" y="21553"/>
                  </a:cubicBezTo>
                  <a:lnTo>
                    <a:pt x="21320" y="21553"/>
                  </a:lnTo>
                  <a:cubicBezTo>
                    <a:pt x="21461" y="21553"/>
                    <a:pt x="21576" y="21329"/>
                    <a:pt x="21576" y="21053"/>
                  </a:cubicBezTo>
                  <a:lnTo>
                    <a:pt x="21576" y="547"/>
                  </a:lnTo>
                  <a:cubicBezTo>
                    <a:pt x="21576" y="271"/>
                    <a:pt x="21461" y="47"/>
                    <a:pt x="21320" y="47"/>
                  </a:cubicBezTo>
                  <a:lnTo>
                    <a:pt x="280" y="47"/>
                  </a:lnTo>
                  <a:lnTo>
                    <a:pt x="280" y="23"/>
                  </a:lnTo>
                  <a:lnTo>
                    <a:pt x="280" y="47"/>
                  </a:lnTo>
                  <a:cubicBezTo>
                    <a:pt x="139" y="47"/>
                    <a:pt x="24" y="271"/>
                    <a:pt x="24" y="547"/>
                  </a:cubicBezTo>
                  <a:close/>
                </a:path>
              </a:pathLst>
            </a:custGeom>
            <a:solidFill>
              <a:srgbClr val="BFBFB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19" name="TextBox 10"/>
          <p:cNvSpPr txBox="1"/>
          <p:nvPr/>
        </p:nvSpPr>
        <p:spPr>
          <a:xfrm>
            <a:off x="582330" y="282263"/>
            <a:ext cx="945680" cy="553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300"/>
              </a:lnSpc>
              <a:defRPr b="1" sz="3600">
                <a:solidFill>
                  <a:srgbClr val="595959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OZ</a:t>
            </a:r>
            <a:r>
              <a:rPr>
                <a:solidFill>
                  <a:srgbClr val="A02B93"/>
                </a:solidFill>
              </a:rPr>
              <a:t>.</a:t>
            </a:r>
          </a:p>
        </p:txBody>
      </p:sp>
      <p:sp>
        <p:nvSpPr>
          <p:cNvPr id="120" name="TextBox 11"/>
          <p:cNvSpPr txBox="1"/>
          <p:nvPr/>
        </p:nvSpPr>
        <p:spPr>
          <a:xfrm>
            <a:off x="2204085" y="1642110"/>
            <a:ext cx="2262189" cy="925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7200"/>
              </a:lnSpc>
              <a:defRPr b="1" sz="6000">
                <a:solidFill>
                  <a:srgbClr val="222222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lvl1pPr>
          </a:lstStyle>
          <a:p>
            <a:pPr/>
            <a:r>
              <a:t>목 차</a:t>
            </a:r>
          </a:p>
        </p:txBody>
      </p:sp>
      <p:sp>
        <p:nvSpPr>
          <p:cNvPr id="121" name="TextBox 12"/>
          <p:cNvSpPr txBox="1"/>
          <p:nvPr/>
        </p:nvSpPr>
        <p:spPr>
          <a:xfrm>
            <a:off x="4584054" y="2893374"/>
            <a:ext cx="9131946" cy="588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760094" indent="-380047">
              <a:lnSpc>
                <a:spcPts val="7800"/>
              </a:lnSpc>
              <a:buSzPct val="100000"/>
              <a:buFont typeface="Arial"/>
              <a:buChar char="•"/>
              <a:defRPr b="1" sz="4200">
                <a:solidFill>
                  <a:srgbClr val="595959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데이터 분석이란</a:t>
            </a:r>
          </a:p>
          <a:p>
            <a:pPr lvl="1" marL="760094" indent="-380047">
              <a:lnSpc>
                <a:spcPts val="7800"/>
              </a:lnSpc>
              <a:buSzPct val="100000"/>
              <a:buFont typeface="Arial"/>
              <a:buChar char="•"/>
              <a:defRPr b="1" sz="4200">
                <a:solidFill>
                  <a:srgbClr val="595959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데이터 타입의 이해 (숫자형 vs 범주형)</a:t>
            </a:r>
          </a:p>
          <a:p>
            <a:pPr lvl="1" marL="760094" indent="-380047">
              <a:lnSpc>
                <a:spcPts val="7800"/>
              </a:lnSpc>
              <a:buSzPct val="100000"/>
              <a:buFont typeface="Arial"/>
              <a:buChar char="•"/>
              <a:defRPr b="1" sz="4200">
                <a:solidFill>
                  <a:srgbClr val="595959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Pandas 기초</a:t>
            </a:r>
          </a:p>
          <a:p>
            <a:pPr lvl="1" marL="760094" indent="-380047">
              <a:lnSpc>
                <a:spcPts val="7800"/>
              </a:lnSpc>
              <a:buSzPct val="100000"/>
              <a:buFont typeface="Arial"/>
              <a:buChar char="•"/>
              <a:defRPr b="1" sz="4200">
                <a:solidFill>
                  <a:srgbClr val="595959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데이터 전처리</a:t>
            </a:r>
          </a:p>
          <a:p>
            <a:pPr lvl="1" marL="760094" indent="-380047">
              <a:lnSpc>
                <a:spcPts val="7800"/>
              </a:lnSpc>
              <a:buSzPct val="100000"/>
              <a:buFont typeface="Arial"/>
              <a:buChar char="•"/>
              <a:defRPr b="1" sz="4200">
                <a:solidFill>
                  <a:srgbClr val="595959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탐색적 분석 (EDA)</a:t>
            </a:r>
          </a:p>
          <a:p>
            <a:pPr lvl="1" marL="760094" indent="-380047">
              <a:lnSpc>
                <a:spcPts val="7800"/>
              </a:lnSpc>
              <a:buSzPct val="100000"/>
              <a:buFont typeface="Arial"/>
              <a:buChar char="•"/>
              <a:defRPr b="1" sz="4200">
                <a:solidFill>
                  <a:srgbClr val="595959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시각화와 인사이트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Freeform 2"/>
          <p:cNvSpPr/>
          <p:nvPr/>
        </p:nvSpPr>
        <p:spPr>
          <a:xfrm>
            <a:off x="9144000" y="0"/>
            <a:ext cx="9144000" cy="51435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Freeform 3"/>
          <p:cNvSpPr/>
          <p:nvPr/>
        </p:nvSpPr>
        <p:spPr>
          <a:xfrm>
            <a:off x="0" y="-19050"/>
            <a:ext cx="9144000" cy="51435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Freeform 4"/>
          <p:cNvSpPr/>
          <p:nvPr/>
        </p:nvSpPr>
        <p:spPr>
          <a:xfrm rot="10800000">
            <a:off x="0" y="5143500"/>
            <a:ext cx="9144000" cy="51435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Freeform 5"/>
          <p:cNvSpPr/>
          <p:nvPr/>
        </p:nvSpPr>
        <p:spPr>
          <a:xfrm rot="10800000">
            <a:off x="9117531" y="5143489"/>
            <a:ext cx="9170469" cy="51435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TextBox 6"/>
          <p:cNvSpPr txBox="1"/>
          <p:nvPr/>
        </p:nvSpPr>
        <p:spPr>
          <a:xfrm>
            <a:off x="1632679" y="312314"/>
            <a:ext cx="3657601" cy="412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>
                <a:solidFill>
                  <a:srgbClr val="595959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pPr/>
            <a:r>
              <a:t>AI 헬스케어 초격차 캠프 </a:t>
            </a:r>
          </a:p>
        </p:txBody>
      </p:sp>
      <p:grpSp>
        <p:nvGrpSpPr>
          <p:cNvPr id="130" name="Group 7"/>
          <p:cNvGrpSpPr/>
          <p:nvPr/>
        </p:nvGrpSpPr>
        <p:grpSpPr>
          <a:xfrm>
            <a:off x="481364" y="1131074"/>
            <a:ext cx="17272351" cy="8840629"/>
            <a:chOff x="0" y="0"/>
            <a:chExt cx="17272350" cy="8840627"/>
          </a:xfrm>
        </p:grpSpPr>
        <p:sp>
          <p:nvSpPr>
            <p:cNvPr id="128" name="Freeform 8"/>
            <p:cNvSpPr/>
            <p:nvPr/>
          </p:nvSpPr>
          <p:spPr>
            <a:xfrm>
              <a:off x="9524" y="9524"/>
              <a:ext cx="17253301" cy="8821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25"/>
                  </a:moveTo>
                  <a:cubicBezTo>
                    <a:pt x="0" y="235"/>
                    <a:pt x="120" y="0"/>
                    <a:pt x="269" y="0"/>
                  </a:cubicBezTo>
                  <a:lnTo>
                    <a:pt x="21331" y="0"/>
                  </a:lnTo>
                  <a:cubicBezTo>
                    <a:pt x="21480" y="0"/>
                    <a:pt x="21600" y="235"/>
                    <a:pt x="21600" y="525"/>
                  </a:cubicBezTo>
                  <a:lnTo>
                    <a:pt x="21600" y="21075"/>
                  </a:lnTo>
                  <a:cubicBezTo>
                    <a:pt x="21600" y="21365"/>
                    <a:pt x="21480" y="21600"/>
                    <a:pt x="21331" y="21600"/>
                  </a:cubicBezTo>
                  <a:lnTo>
                    <a:pt x="269" y="21600"/>
                  </a:lnTo>
                  <a:cubicBezTo>
                    <a:pt x="120" y="21600"/>
                    <a:pt x="0" y="21365"/>
                    <a:pt x="0" y="2107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9" name="Freeform 9"/>
            <p:cNvSpPr/>
            <p:nvPr/>
          </p:nvSpPr>
          <p:spPr>
            <a:xfrm>
              <a:off x="-1" y="-1"/>
              <a:ext cx="17272351" cy="8840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47"/>
                  </a:moveTo>
                  <a:cubicBezTo>
                    <a:pt x="0" y="245"/>
                    <a:pt x="125" y="0"/>
                    <a:pt x="280" y="0"/>
                  </a:cubicBezTo>
                  <a:lnTo>
                    <a:pt x="21320" y="0"/>
                  </a:lnTo>
                  <a:lnTo>
                    <a:pt x="21320" y="23"/>
                  </a:lnTo>
                  <a:lnTo>
                    <a:pt x="21320" y="0"/>
                  </a:lnTo>
                  <a:cubicBezTo>
                    <a:pt x="21475" y="0"/>
                    <a:pt x="21600" y="245"/>
                    <a:pt x="21600" y="547"/>
                  </a:cubicBezTo>
                  <a:lnTo>
                    <a:pt x="21588" y="547"/>
                  </a:lnTo>
                  <a:lnTo>
                    <a:pt x="21600" y="547"/>
                  </a:lnTo>
                  <a:lnTo>
                    <a:pt x="21600" y="21053"/>
                  </a:lnTo>
                  <a:lnTo>
                    <a:pt x="21588" y="21053"/>
                  </a:lnTo>
                  <a:lnTo>
                    <a:pt x="21600" y="21053"/>
                  </a:lnTo>
                  <a:cubicBezTo>
                    <a:pt x="21600" y="21355"/>
                    <a:pt x="21475" y="21600"/>
                    <a:pt x="21320" y="21600"/>
                  </a:cubicBezTo>
                  <a:lnTo>
                    <a:pt x="21320" y="21577"/>
                  </a:lnTo>
                  <a:lnTo>
                    <a:pt x="21320" y="21600"/>
                  </a:lnTo>
                  <a:lnTo>
                    <a:pt x="280" y="21600"/>
                  </a:lnTo>
                  <a:lnTo>
                    <a:pt x="280" y="21577"/>
                  </a:lnTo>
                  <a:lnTo>
                    <a:pt x="280" y="21600"/>
                  </a:lnTo>
                  <a:cubicBezTo>
                    <a:pt x="125" y="21600"/>
                    <a:pt x="0" y="21355"/>
                    <a:pt x="0" y="21053"/>
                  </a:cubicBezTo>
                  <a:lnTo>
                    <a:pt x="0" y="547"/>
                  </a:lnTo>
                  <a:lnTo>
                    <a:pt x="12" y="547"/>
                  </a:lnTo>
                  <a:lnTo>
                    <a:pt x="0" y="547"/>
                  </a:lnTo>
                  <a:moveTo>
                    <a:pt x="24" y="547"/>
                  </a:moveTo>
                  <a:lnTo>
                    <a:pt x="24" y="21053"/>
                  </a:lnTo>
                  <a:lnTo>
                    <a:pt x="12" y="21053"/>
                  </a:lnTo>
                  <a:lnTo>
                    <a:pt x="24" y="21053"/>
                  </a:lnTo>
                  <a:cubicBezTo>
                    <a:pt x="24" y="21329"/>
                    <a:pt x="139" y="21553"/>
                    <a:pt x="280" y="21553"/>
                  </a:cubicBezTo>
                  <a:lnTo>
                    <a:pt x="21320" y="21553"/>
                  </a:lnTo>
                  <a:cubicBezTo>
                    <a:pt x="21461" y="21553"/>
                    <a:pt x="21576" y="21329"/>
                    <a:pt x="21576" y="21053"/>
                  </a:cubicBezTo>
                  <a:lnTo>
                    <a:pt x="21576" y="547"/>
                  </a:lnTo>
                  <a:cubicBezTo>
                    <a:pt x="21576" y="271"/>
                    <a:pt x="21461" y="47"/>
                    <a:pt x="21320" y="47"/>
                  </a:cubicBezTo>
                  <a:lnTo>
                    <a:pt x="280" y="47"/>
                  </a:lnTo>
                  <a:lnTo>
                    <a:pt x="280" y="23"/>
                  </a:lnTo>
                  <a:lnTo>
                    <a:pt x="280" y="47"/>
                  </a:lnTo>
                  <a:cubicBezTo>
                    <a:pt x="139" y="47"/>
                    <a:pt x="24" y="271"/>
                    <a:pt x="24" y="547"/>
                  </a:cubicBezTo>
                  <a:close/>
                </a:path>
              </a:pathLst>
            </a:custGeom>
            <a:solidFill>
              <a:srgbClr val="BFBFB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31" name="TextBox 10"/>
          <p:cNvSpPr txBox="1"/>
          <p:nvPr/>
        </p:nvSpPr>
        <p:spPr>
          <a:xfrm>
            <a:off x="582330" y="282263"/>
            <a:ext cx="945680" cy="553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300"/>
              </a:lnSpc>
              <a:defRPr b="1" sz="3600">
                <a:solidFill>
                  <a:srgbClr val="595959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OZ</a:t>
            </a:r>
            <a:r>
              <a:rPr>
                <a:solidFill>
                  <a:srgbClr val="A02B93"/>
                </a:solidFill>
              </a:rPr>
              <a:t>.</a:t>
            </a:r>
          </a:p>
        </p:txBody>
      </p:sp>
      <p:sp>
        <p:nvSpPr>
          <p:cNvPr id="132" name="TextBox 11"/>
          <p:cNvSpPr txBox="1"/>
          <p:nvPr/>
        </p:nvSpPr>
        <p:spPr>
          <a:xfrm>
            <a:off x="2434768" y="3221354"/>
            <a:ext cx="13418464" cy="31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4500"/>
              </a:lnSpc>
              <a:defRPr b="1" sz="8100">
                <a:solidFill>
                  <a:srgbClr val="222222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과정 목표 </a:t>
            </a:r>
          </a:p>
          <a:p>
            <a:pPr>
              <a:lnSpc>
                <a:spcPts val="5000"/>
              </a:lnSpc>
              <a:defRPr b="1" sz="4200">
                <a:solidFill>
                  <a:srgbClr val="808080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복잡한 의료 데이터에서 유의미한 인사이트를 도출하여</a:t>
            </a:r>
          </a:p>
          <a:p>
            <a:pPr>
              <a:lnSpc>
                <a:spcPts val="5000"/>
              </a:lnSpc>
              <a:defRPr b="1" sz="4200">
                <a:solidFill>
                  <a:srgbClr val="808080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효과적인 AI 모델 설계에 활용하는 데이터 분석 능력을 기른다.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Freeform 2"/>
          <p:cNvSpPr/>
          <p:nvPr/>
        </p:nvSpPr>
        <p:spPr>
          <a:xfrm>
            <a:off x="914400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Freeform 3"/>
          <p:cNvSpPr/>
          <p:nvPr/>
        </p:nvSpPr>
        <p:spPr>
          <a:xfrm>
            <a:off x="0" y="-1905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Freeform 4"/>
          <p:cNvSpPr/>
          <p:nvPr/>
        </p:nvSpPr>
        <p:spPr>
          <a:xfrm rot="10800000">
            <a:off x="0" y="514350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Freeform 5"/>
          <p:cNvSpPr/>
          <p:nvPr/>
        </p:nvSpPr>
        <p:spPr>
          <a:xfrm rot="10800000">
            <a:off x="9117531" y="5143489"/>
            <a:ext cx="9170469" cy="51435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Box 6"/>
          <p:cNvSpPr txBox="1"/>
          <p:nvPr/>
        </p:nvSpPr>
        <p:spPr>
          <a:xfrm>
            <a:off x="1632679" y="312314"/>
            <a:ext cx="3657601" cy="412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>
                <a:solidFill>
                  <a:srgbClr val="595959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pPr/>
            <a:r>
              <a:t>AI 헬스케어 초격차 캠프 </a:t>
            </a:r>
          </a:p>
        </p:txBody>
      </p:sp>
      <p:grpSp>
        <p:nvGrpSpPr>
          <p:cNvPr id="141" name="Group 7"/>
          <p:cNvGrpSpPr/>
          <p:nvPr/>
        </p:nvGrpSpPr>
        <p:grpSpPr>
          <a:xfrm>
            <a:off x="481364" y="1131074"/>
            <a:ext cx="17272351" cy="8840629"/>
            <a:chOff x="0" y="0"/>
            <a:chExt cx="17272350" cy="8840627"/>
          </a:xfrm>
        </p:grpSpPr>
        <p:sp>
          <p:nvSpPr>
            <p:cNvPr id="139" name="Freeform 8"/>
            <p:cNvSpPr/>
            <p:nvPr/>
          </p:nvSpPr>
          <p:spPr>
            <a:xfrm>
              <a:off x="9524" y="9524"/>
              <a:ext cx="17253301" cy="8821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25"/>
                  </a:moveTo>
                  <a:cubicBezTo>
                    <a:pt x="0" y="235"/>
                    <a:pt x="120" y="0"/>
                    <a:pt x="269" y="0"/>
                  </a:cubicBezTo>
                  <a:lnTo>
                    <a:pt x="21331" y="0"/>
                  </a:lnTo>
                  <a:cubicBezTo>
                    <a:pt x="21480" y="0"/>
                    <a:pt x="21600" y="235"/>
                    <a:pt x="21600" y="525"/>
                  </a:cubicBezTo>
                  <a:lnTo>
                    <a:pt x="21600" y="21075"/>
                  </a:lnTo>
                  <a:cubicBezTo>
                    <a:pt x="21600" y="21365"/>
                    <a:pt x="21480" y="21600"/>
                    <a:pt x="21331" y="21600"/>
                  </a:cubicBezTo>
                  <a:lnTo>
                    <a:pt x="269" y="21600"/>
                  </a:lnTo>
                  <a:cubicBezTo>
                    <a:pt x="120" y="21600"/>
                    <a:pt x="0" y="21365"/>
                    <a:pt x="0" y="2107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0" name="Freeform 9"/>
            <p:cNvSpPr/>
            <p:nvPr/>
          </p:nvSpPr>
          <p:spPr>
            <a:xfrm>
              <a:off x="-1" y="-1"/>
              <a:ext cx="17272351" cy="8840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47"/>
                  </a:moveTo>
                  <a:cubicBezTo>
                    <a:pt x="0" y="245"/>
                    <a:pt x="125" y="0"/>
                    <a:pt x="280" y="0"/>
                  </a:cubicBezTo>
                  <a:lnTo>
                    <a:pt x="21320" y="0"/>
                  </a:lnTo>
                  <a:lnTo>
                    <a:pt x="21320" y="23"/>
                  </a:lnTo>
                  <a:lnTo>
                    <a:pt x="21320" y="0"/>
                  </a:lnTo>
                  <a:cubicBezTo>
                    <a:pt x="21475" y="0"/>
                    <a:pt x="21600" y="245"/>
                    <a:pt x="21600" y="547"/>
                  </a:cubicBezTo>
                  <a:lnTo>
                    <a:pt x="21588" y="547"/>
                  </a:lnTo>
                  <a:lnTo>
                    <a:pt x="21600" y="547"/>
                  </a:lnTo>
                  <a:lnTo>
                    <a:pt x="21600" y="21053"/>
                  </a:lnTo>
                  <a:lnTo>
                    <a:pt x="21588" y="21053"/>
                  </a:lnTo>
                  <a:lnTo>
                    <a:pt x="21600" y="21053"/>
                  </a:lnTo>
                  <a:cubicBezTo>
                    <a:pt x="21600" y="21355"/>
                    <a:pt x="21475" y="21600"/>
                    <a:pt x="21320" y="21600"/>
                  </a:cubicBezTo>
                  <a:lnTo>
                    <a:pt x="21320" y="21577"/>
                  </a:lnTo>
                  <a:lnTo>
                    <a:pt x="21320" y="21600"/>
                  </a:lnTo>
                  <a:lnTo>
                    <a:pt x="280" y="21600"/>
                  </a:lnTo>
                  <a:lnTo>
                    <a:pt x="280" y="21577"/>
                  </a:lnTo>
                  <a:lnTo>
                    <a:pt x="280" y="21600"/>
                  </a:lnTo>
                  <a:cubicBezTo>
                    <a:pt x="125" y="21600"/>
                    <a:pt x="0" y="21355"/>
                    <a:pt x="0" y="21053"/>
                  </a:cubicBezTo>
                  <a:lnTo>
                    <a:pt x="0" y="547"/>
                  </a:lnTo>
                  <a:lnTo>
                    <a:pt x="12" y="547"/>
                  </a:lnTo>
                  <a:lnTo>
                    <a:pt x="0" y="547"/>
                  </a:lnTo>
                  <a:moveTo>
                    <a:pt x="24" y="547"/>
                  </a:moveTo>
                  <a:lnTo>
                    <a:pt x="24" y="21053"/>
                  </a:lnTo>
                  <a:lnTo>
                    <a:pt x="12" y="21053"/>
                  </a:lnTo>
                  <a:lnTo>
                    <a:pt x="24" y="21053"/>
                  </a:lnTo>
                  <a:cubicBezTo>
                    <a:pt x="24" y="21329"/>
                    <a:pt x="139" y="21553"/>
                    <a:pt x="280" y="21553"/>
                  </a:cubicBezTo>
                  <a:lnTo>
                    <a:pt x="21320" y="21553"/>
                  </a:lnTo>
                  <a:cubicBezTo>
                    <a:pt x="21461" y="21553"/>
                    <a:pt x="21576" y="21329"/>
                    <a:pt x="21576" y="21053"/>
                  </a:cubicBezTo>
                  <a:lnTo>
                    <a:pt x="21576" y="547"/>
                  </a:lnTo>
                  <a:cubicBezTo>
                    <a:pt x="21576" y="271"/>
                    <a:pt x="21461" y="47"/>
                    <a:pt x="21320" y="47"/>
                  </a:cubicBezTo>
                  <a:lnTo>
                    <a:pt x="280" y="47"/>
                  </a:lnTo>
                  <a:lnTo>
                    <a:pt x="280" y="23"/>
                  </a:lnTo>
                  <a:lnTo>
                    <a:pt x="280" y="47"/>
                  </a:lnTo>
                  <a:cubicBezTo>
                    <a:pt x="139" y="47"/>
                    <a:pt x="24" y="271"/>
                    <a:pt x="24" y="547"/>
                  </a:cubicBezTo>
                  <a:close/>
                </a:path>
              </a:pathLst>
            </a:custGeom>
            <a:solidFill>
              <a:srgbClr val="BFBFB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42" name="TextBox 10"/>
          <p:cNvSpPr txBox="1"/>
          <p:nvPr/>
        </p:nvSpPr>
        <p:spPr>
          <a:xfrm>
            <a:off x="582330" y="282263"/>
            <a:ext cx="945680" cy="553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300"/>
              </a:lnSpc>
              <a:defRPr b="1" sz="3600">
                <a:solidFill>
                  <a:srgbClr val="595959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OZ</a:t>
            </a:r>
            <a:r>
              <a:rPr>
                <a:solidFill>
                  <a:srgbClr val="A02B93"/>
                </a:solidFill>
              </a:rPr>
              <a:t>.</a:t>
            </a:r>
          </a:p>
        </p:txBody>
      </p:sp>
      <p:sp>
        <p:nvSpPr>
          <p:cNvPr id="143" name="TextBox 11"/>
          <p:cNvSpPr txBox="1"/>
          <p:nvPr/>
        </p:nvSpPr>
        <p:spPr>
          <a:xfrm>
            <a:off x="4780717" y="4498657"/>
            <a:ext cx="8071247" cy="1534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1500"/>
              </a:lnSpc>
              <a:defRPr b="1" sz="9600">
                <a:solidFill>
                  <a:srgbClr val="40404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defRPr>
            </a:lvl1pPr>
          </a:lstStyle>
          <a:p>
            <a:pPr/>
            <a:r>
              <a:t>데이터 분석이란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Freeform 2"/>
          <p:cNvSpPr/>
          <p:nvPr/>
        </p:nvSpPr>
        <p:spPr>
          <a:xfrm>
            <a:off x="914400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Freeform 3"/>
          <p:cNvSpPr/>
          <p:nvPr/>
        </p:nvSpPr>
        <p:spPr>
          <a:xfrm>
            <a:off x="0" y="-1905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Freeform 4"/>
          <p:cNvSpPr/>
          <p:nvPr/>
        </p:nvSpPr>
        <p:spPr>
          <a:xfrm rot="10800000">
            <a:off x="0" y="514350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Freeform 5"/>
          <p:cNvSpPr/>
          <p:nvPr/>
        </p:nvSpPr>
        <p:spPr>
          <a:xfrm rot="10800000">
            <a:off x="9117531" y="5143489"/>
            <a:ext cx="9170469" cy="51435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53" name="Group 6"/>
          <p:cNvGrpSpPr/>
          <p:nvPr/>
        </p:nvGrpSpPr>
        <p:grpSpPr>
          <a:xfrm>
            <a:off x="481364" y="1131074"/>
            <a:ext cx="17272351" cy="8840629"/>
            <a:chOff x="0" y="0"/>
            <a:chExt cx="17272350" cy="8840627"/>
          </a:xfrm>
        </p:grpSpPr>
        <p:sp>
          <p:nvSpPr>
            <p:cNvPr id="151" name="Freeform 7"/>
            <p:cNvSpPr/>
            <p:nvPr/>
          </p:nvSpPr>
          <p:spPr>
            <a:xfrm>
              <a:off x="9524" y="9524"/>
              <a:ext cx="17253301" cy="8821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25"/>
                  </a:moveTo>
                  <a:cubicBezTo>
                    <a:pt x="0" y="235"/>
                    <a:pt x="120" y="0"/>
                    <a:pt x="269" y="0"/>
                  </a:cubicBezTo>
                  <a:lnTo>
                    <a:pt x="21331" y="0"/>
                  </a:lnTo>
                  <a:cubicBezTo>
                    <a:pt x="21480" y="0"/>
                    <a:pt x="21600" y="235"/>
                    <a:pt x="21600" y="525"/>
                  </a:cubicBezTo>
                  <a:lnTo>
                    <a:pt x="21600" y="21075"/>
                  </a:lnTo>
                  <a:cubicBezTo>
                    <a:pt x="21600" y="21365"/>
                    <a:pt x="21480" y="21600"/>
                    <a:pt x="21331" y="21600"/>
                  </a:cubicBezTo>
                  <a:lnTo>
                    <a:pt x="269" y="21600"/>
                  </a:lnTo>
                  <a:cubicBezTo>
                    <a:pt x="120" y="21600"/>
                    <a:pt x="0" y="21365"/>
                    <a:pt x="0" y="2107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2" name="Freeform 8"/>
            <p:cNvSpPr/>
            <p:nvPr/>
          </p:nvSpPr>
          <p:spPr>
            <a:xfrm>
              <a:off x="-1" y="-1"/>
              <a:ext cx="17272351" cy="8840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47"/>
                  </a:moveTo>
                  <a:cubicBezTo>
                    <a:pt x="0" y="245"/>
                    <a:pt x="125" y="0"/>
                    <a:pt x="280" y="0"/>
                  </a:cubicBezTo>
                  <a:lnTo>
                    <a:pt x="21320" y="0"/>
                  </a:lnTo>
                  <a:lnTo>
                    <a:pt x="21320" y="23"/>
                  </a:lnTo>
                  <a:lnTo>
                    <a:pt x="21320" y="0"/>
                  </a:lnTo>
                  <a:cubicBezTo>
                    <a:pt x="21475" y="0"/>
                    <a:pt x="21600" y="245"/>
                    <a:pt x="21600" y="547"/>
                  </a:cubicBezTo>
                  <a:lnTo>
                    <a:pt x="21588" y="547"/>
                  </a:lnTo>
                  <a:lnTo>
                    <a:pt x="21600" y="547"/>
                  </a:lnTo>
                  <a:lnTo>
                    <a:pt x="21600" y="21053"/>
                  </a:lnTo>
                  <a:lnTo>
                    <a:pt x="21588" y="21053"/>
                  </a:lnTo>
                  <a:lnTo>
                    <a:pt x="21600" y="21053"/>
                  </a:lnTo>
                  <a:cubicBezTo>
                    <a:pt x="21600" y="21355"/>
                    <a:pt x="21475" y="21600"/>
                    <a:pt x="21320" y="21600"/>
                  </a:cubicBezTo>
                  <a:lnTo>
                    <a:pt x="21320" y="21577"/>
                  </a:lnTo>
                  <a:lnTo>
                    <a:pt x="21320" y="21600"/>
                  </a:lnTo>
                  <a:lnTo>
                    <a:pt x="280" y="21600"/>
                  </a:lnTo>
                  <a:lnTo>
                    <a:pt x="280" y="21577"/>
                  </a:lnTo>
                  <a:lnTo>
                    <a:pt x="280" y="21600"/>
                  </a:lnTo>
                  <a:cubicBezTo>
                    <a:pt x="125" y="21600"/>
                    <a:pt x="0" y="21355"/>
                    <a:pt x="0" y="21053"/>
                  </a:cubicBezTo>
                  <a:lnTo>
                    <a:pt x="0" y="547"/>
                  </a:lnTo>
                  <a:lnTo>
                    <a:pt x="12" y="547"/>
                  </a:lnTo>
                  <a:lnTo>
                    <a:pt x="0" y="547"/>
                  </a:lnTo>
                  <a:moveTo>
                    <a:pt x="24" y="547"/>
                  </a:moveTo>
                  <a:lnTo>
                    <a:pt x="24" y="21053"/>
                  </a:lnTo>
                  <a:lnTo>
                    <a:pt x="12" y="21053"/>
                  </a:lnTo>
                  <a:lnTo>
                    <a:pt x="24" y="21053"/>
                  </a:lnTo>
                  <a:cubicBezTo>
                    <a:pt x="24" y="21329"/>
                    <a:pt x="139" y="21553"/>
                    <a:pt x="280" y="21553"/>
                  </a:cubicBezTo>
                  <a:lnTo>
                    <a:pt x="21320" y="21553"/>
                  </a:lnTo>
                  <a:cubicBezTo>
                    <a:pt x="21461" y="21553"/>
                    <a:pt x="21576" y="21329"/>
                    <a:pt x="21576" y="21053"/>
                  </a:cubicBezTo>
                  <a:lnTo>
                    <a:pt x="21576" y="547"/>
                  </a:lnTo>
                  <a:cubicBezTo>
                    <a:pt x="21576" y="271"/>
                    <a:pt x="21461" y="47"/>
                    <a:pt x="21320" y="47"/>
                  </a:cubicBezTo>
                  <a:lnTo>
                    <a:pt x="280" y="47"/>
                  </a:lnTo>
                  <a:lnTo>
                    <a:pt x="280" y="23"/>
                  </a:lnTo>
                  <a:lnTo>
                    <a:pt x="280" y="47"/>
                  </a:lnTo>
                  <a:cubicBezTo>
                    <a:pt x="139" y="47"/>
                    <a:pt x="24" y="271"/>
                    <a:pt x="24" y="547"/>
                  </a:cubicBezTo>
                  <a:close/>
                </a:path>
              </a:pathLst>
            </a:custGeom>
            <a:solidFill>
              <a:srgbClr val="BFBFB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54" name="Freeform 10"/>
          <p:cNvSpPr/>
          <p:nvPr/>
        </p:nvSpPr>
        <p:spPr>
          <a:xfrm>
            <a:off x="1055170" y="2346424"/>
            <a:ext cx="9150666" cy="62697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38" y="0"/>
                </a:moveTo>
                <a:lnTo>
                  <a:pt x="21162" y="0"/>
                </a:lnTo>
                <a:cubicBezTo>
                  <a:pt x="21278" y="0"/>
                  <a:pt x="21389" y="67"/>
                  <a:pt x="21472" y="187"/>
                </a:cubicBezTo>
                <a:cubicBezTo>
                  <a:pt x="21554" y="307"/>
                  <a:pt x="21600" y="470"/>
                  <a:pt x="21600" y="640"/>
                </a:cubicBezTo>
                <a:lnTo>
                  <a:pt x="21600" y="20960"/>
                </a:lnTo>
                <a:cubicBezTo>
                  <a:pt x="21600" y="21314"/>
                  <a:pt x="21404" y="21600"/>
                  <a:pt x="21162" y="21600"/>
                </a:cubicBezTo>
                <a:lnTo>
                  <a:pt x="438" y="21600"/>
                </a:lnTo>
                <a:cubicBezTo>
                  <a:pt x="322" y="21600"/>
                  <a:pt x="211" y="21533"/>
                  <a:pt x="128" y="21413"/>
                </a:cubicBezTo>
                <a:cubicBezTo>
                  <a:pt x="46" y="21293"/>
                  <a:pt x="0" y="21130"/>
                  <a:pt x="0" y="20960"/>
                </a:cubicBezTo>
                <a:lnTo>
                  <a:pt x="0" y="640"/>
                </a:lnTo>
                <a:cubicBezTo>
                  <a:pt x="0" y="470"/>
                  <a:pt x="46" y="307"/>
                  <a:pt x="128" y="187"/>
                </a:cubicBezTo>
                <a:cubicBezTo>
                  <a:pt x="211" y="67"/>
                  <a:pt x="322" y="0"/>
                  <a:pt x="438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Freeform 12"/>
          <p:cNvSpPr/>
          <p:nvPr/>
        </p:nvSpPr>
        <p:spPr>
          <a:xfrm rot="10800000">
            <a:off x="10496228" y="3984574"/>
            <a:ext cx="2590941" cy="3862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5" h="21600" fill="norm" stroke="1" extrusionOk="0">
                <a:moveTo>
                  <a:pt x="20762" y="0"/>
                </a:moveTo>
                <a:lnTo>
                  <a:pt x="62" y="0"/>
                </a:lnTo>
                <a:cubicBezTo>
                  <a:pt x="43" y="0"/>
                  <a:pt x="25" y="59"/>
                  <a:pt x="13" y="159"/>
                </a:cubicBezTo>
                <a:cubicBezTo>
                  <a:pt x="1" y="260"/>
                  <a:pt x="-3" y="391"/>
                  <a:pt x="1" y="516"/>
                </a:cubicBezTo>
                <a:lnTo>
                  <a:pt x="734" y="21084"/>
                </a:lnTo>
                <a:cubicBezTo>
                  <a:pt x="745" y="21387"/>
                  <a:pt x="785" y="21600"/>
                  <a:pt x="832" y="21600"/>
                </a:cubicBezTo>
                <a:lnTo>
                  <a:pt x="21532" y="21600"/>
                </a:lnTo>
                <a:cubicBezTo>
                  <a:pt x="21551" y="21600"/>
                  <a:pt x="21569" y="21541"/>
                  <a:pt x="21581" y="21441"/>
                </a:cubicBezTo>
                <a:cubicBezTo>
                  <a:pt x="21593" y="21340"/>
                  <a:pt x="21597" y="21209"/>
                  <a:pt x="21593" y="21084"/>
                </a:cubicBezTo>
                <a:lnTo>
                  <a:pt x="20860" y="516"/>
                </a:lnTo>
                <a:cubicBezTo>
                  <a:pt x="20849" y="213"/>
                  <a:pt x="20809" y="0"/>
                  <a:pt x="20762" y="0"/>
                </a:cubicBezTo>
                <a:close/>
              </a:path>
            </a:pathLst>
          </a:custGeom>
          <a:solidFill>
            <a:srgbClr val="FFF1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Box 14"/>
          <p:cNvSpPr txBox="1"/>
          <p:nvPr/>
        </p:nvSpPr>
        <p:spPr>
          <a:xfrm>
            <a:off x="1632679" y="312314"/>
            <a:ext cx="3657601" cy="412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>
                <a:solidFill>
                  <a:srgbClr val="595959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pPr/>
            <a:r>
              <a:t>AI 헬스케어 초격차 캠프 </a:t>
            </a:r>
          </a:p>
        </p:txBody>
      </p:sp>
      <p:sp>
        <p:nvSpPr>
          <p:cNvPr id="157" name="TextBox 15"/>
          <p:cNvSpPr txBox="1"/>
          <p:nvPr/>
        </p:nvSpPr>
        <p:spPr>
          <a:xfrm>
            <a:off x="582330" y="282263"/>
            <a:ext cx="945680" cy="553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300"/>
              </a:lnSpc>
              <a:defRPr b="1" sz="3600">
                <a:solidFill>
                  <a:srgbClr val="595959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OZ</a:t>
            </a:r>
            <a:r>
              <a:rPr>
                <a:solidFill>
                  <a:srgbClr val="A02B93"/>
                </a:solidFill>
              </a:rPr>
              <a:t>.</a:t>
            </a:r>
          </a:p>
        </p:txBody>
      </p:sp>
      <p:sp>
        <p:nvSpPr>
          <p:cNvPr id="158" name="TextBox 16"/>
          <p:cNvSpPr txBox="1"/>
          <p:nvPr/>
        </p:nvSpPr>
        <p:spPr>
          <a:xfrm>
            <a:off x="10699838" y="3728241"/>
            <a:ext cx="1950542" cy="568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400"/>
              </a:lnSpc>
              <a:defRPr b="1" sz="3200">
                <a:solidFill>
                  <a:srgbClr val="444444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defRPr>
            </a:lvl1pPr>
          </a:lstStyle>
          <a:p>
            <a:pPr/>
            <a:r>
              <a:t>데이터 분석</a:t>
            </a:r>
          </a:p>
        </p:txBody>
      </p:sp>
      <p:sp>
        <p:nvSpPr>
          <p:cNvPr id="159" name="TextBox 17"/>
          <p:cNvSpPr txBox="1"/>
          <p:nvPr/>
        </p:nvSpPr>
        <p:spPr>
          <a:xfrm>
            <a:off x="10699838" y="4981132"/>
            <a:ext cx="6517767" cy="406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pc="-115" sz="2500">
                <a:solidFill>
                  <a:srgbClr val="444444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lvl1pPr>
          </a:lstStyle>
          <a:p>
            <a:pPr/>
            <a:r>
              <a:t>원본 데이터로부터 유의미한 정보를 얻어내는 과정</a:t>
            </a:r>
          </a:p>
        </p:txBody>
      </p:sp>
      <p:sp>
        <p:nvSpPr>
          <p:cNvPr id="160" name="TextBox 18"/>
          <p:cNvSpPr txBox="1"/>
          <p:nvPr/>
        </p:nvSpPr>
        <p:spPr>
          <a:xfrm>
            <a:off x="10699838" y="5742752"/>
            <a:ext cx="6644511" cy="2844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200"/>
              </a:lnSpc>
              <a:defRPr spc="-115" sz="2500">
                <a:solidFill>
                  <a:srgbClr val="444444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pPr>
            <a:r>
              <a:t>수천 명의 환자 데이터 중에서 즉각적인 대응이 필요한 고위험군을 선별하고, 복잡한 검사 결과의 추이를 분석하여 환자의 상태 변화를 객관적인 지표로 도출합니다.</a:t>
            </a:r>
          </a:p>
          <a:p>
            <a:pPr>
              <a:lnSpc>
                <a:spcPts val="3200"/>
              </a:lnSpc>
            </a:pPr>
          </a:p>
          <a:p>
            <a:pPr>
              <a:lnSpc>
                <a:spcPts val="3200"/>
              </a:lnSpc>
              <a:defRPr spc="-115" sz="2500">
                <a:solidFill>
                  <a:srgbClr val="444444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pPr>
            <a:r>
              <a:t>복잡하게 흩어진  원본데이터에서 사람이 이해할 수 있는 인사이트를 찾아가는 과정이 바로 </a:t>
            </a:r>
            <a:r>
              <a:rPr b="1">
                <a:latin typeface="Nanum Square Bold"/>
                <a:ea typeface="Nanum Square Bold"/>
                <a:cs typeface="Nanum Square Bold"/>
                <a:sym typeface="Nanum Square Bold"/>
              </a:rPr>
              <a:t>데이터 분석</a:t>
            </a:r>
            <a:r>
              <a:t>이며,</a:t>
            </a:r>
          </a:p>
          <a:p>
            <a:pPr>
              <a:lnSpc>
                <a:spcPts val="3200"/>
              </a:lnSpc>
              <a:defRPr spc="-115" sz="2500">
                <a:solidFill>
                  <a:srgbClr val="444444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pPr>
            <a:r>
              <a:t>이것이 바로 </a:t>
            </a:r>
            <a:r>
              <a:rPr b="1">
                <a:latin typeface="Nanum Square Bold"/>
                <a:ea typeface="Nanum Square Bold"/>
                <a:cs typeface="Nanum Square Bold"/>
                <a:sym typeface="Nanum Square Bold"/>
              </a:rPr>
              <a:t>AI 모델 설계의 기초</a:t>
            </a:r>
            <a:r>
              <a:t>가 됩니다. </a:t>
            </a:r>
          </a:p>
        </p:txBody>
      </p:sp>
      <p:sp>
        <p:nvSpPr>
          <p:cNvPr id="161" name="TextBox 19"/>
          <p:cNvSpPr txBox="1"/>
          <p:nvPr/>
        </p:nvSpPr>
        <p:spPr>
          <a:xfrm>
            <a:off x="9474292" y="323850"/>
            <a:ext cx="7534502" cy="412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3200"/>
              </a:lnSpc>
              <a:defRPr b="1" sz="2700">
                <a:solidFill>
                  <a:srgbClr val="222222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lvl1pPr>
          </a:lstStyle>
          <a:p>
            <a:pPr/>
            <a:r>
              <a:t>데이터 분석이란</a:t>
            </a:r>
          </a:p>
        </p:txBody>
      </p:sp>
      <p:pic>
        <p:nvPicPr>
          <p:cNvPr id="162" name="이미지" descr="이미지"/>
          <p:cNvPicPr>
            <a:picLocks noChangeAspect="1"/>
          </p:cNvPicPr>
          <p:nvPr/>
        </p:nvPicPr>
        <p:blipFill>
          <a:blip r:embed="rId5">
            <a:extLst/>
          </a:blip>
          <a:srcRect l="1285" t="0" r="1285" b="0"/>
          <a:stretch>
            <a:fillRect/>
          </a:stretch>
        </p:blipFill>
        <p:spPr>
          <a:xfrm>
            <a:off x="1162511" y="2435196"/>
            <a:ext cx="8935985" cy="61175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Freeform 2"/>
          <p:cNvSpPr/>
          <p:nvPr/>
        </p:nvSpPr>
        <p:spPr>
          <a:xfrm>
            <a:off x="914400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Freeform 3"/>
          <p:cNvSpPr/>
          <p:nvPr/>
        </p:nvSpPr>
        <p:spPr>
          <a:xfrm>
            <a:off x="0" y="-1905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Freeform 4"/>
          <p:cNvSpPr/>
          <p:nvPr/>
        </p:nvSpPr>
        <p:spPr>
          <a:xfrm rot="10800000">
            <a:off x="0" y="514350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Freeform 5"/>
          <p:cNvSpPr/>
          <p:nvPr/>
        </p:nvSpPr>
        <p:spPr>
          <a:xfrm rot="10800000">
            <a:off x="9117531" y="5143489"/>
            <a:ext cx="9170469" cy="51435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72" name="Group 6"/>
          <p:cNvGrpSpPr/>
          <p:nvPr/>
        </p:nvGrpSpPr>
        <p:grpSpPr>
          <a:xfrm>
            <a:off x="481364" y="1131074"/>
            <a:ext cx="17272351" cy="8840629"/>
            <a:chOff x="0" y="0"/>
            <a:chExt cx="17272350" cy="8840627"/>
          </a:xfrm>
        </p:grpSpPr>
        <p:sp>
          <p:nvSpPr>
            <p:cNvPr id="170" name="Freeform 7"/>
            <p:cNvSpPr/>
            <p:nvPr/>
          </p:nvSpPr>
          <p:spPr>
            <a:xfrm>
              <a:off x="9524" y="9524"/>
              <a:ext cx="17253301" cy="8821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25"/>
                  </a:moveTo>
                  <a:cubicBezTo>
                    <a:pt x="0" y="235"/>
                    <a:pt x="120" y="0"/>
                    <a:pt x="269" y="0"/>
                  </a:cubicBezTo>
                  <a:lnTo>
                    <a:pt x="21331" y="0"/>
                  </a:lnTo>
                  <a:cubicBezTo>
                    <a:pt x="21480" y="0"/>
                    <a:pt x="21600" y="235"/>
                    <a:pt x="21600" y="525"/>
                  </a:cubicBezTo>
                  <a:lnTo>
                    <a:pt x="21600" y="21075"/>
                  </a:lnTo>
                  <a:cubicBezTo>
                    <a:pt x="21600" y="21365"/>
                    <a:pt x="21480" y="21600"/>
                    <a:pt x="21331" y="21600"/>
                  </a:cubicBezTo>
                  <a:lnTo>
                    <a:pt x="269" y="21600"/>
                  </a:lnTo>
                  <a:cubicBezTo>
                    <a:pt x="120" y="21600"/>
                    <a:pt x="0" y="21365"/>
                    <a:pt x="0" y="2107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1" name="Freeform 8"/>
            <p:cNvSpPr/>
            <p:nvPr/>
          </p:nvSpPr>
          <p:spPr>
            <a:xfrm>
              <a:off x="-1" y="-1"/>
              <a:ext cx="17272351" cy="8840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47"/>
                  </a:moveTo>
                  <a:cubicBezTo>
                    <a:pt x="0" y="245"/>
                    <a:pt x="125" y="0"/>
                    <a:pt x="280" y="0"/>
                  </a:cubicBezTo>
                  <a:lnTo>
                    <a:pt x="21320" y="0"/>
                  </a:lnTo>
                  <a:lnTo>
                    <a:pt x="21320" y="23"/>
                  </a:lnTo>
                  <a:lnTo>
                    <a:pt x="21320" y="0"/>
                  </a:lnTo>
                  <a:cubicBezTo>
                    <a:pt x="21475" y="0"/>
                    <a:pt x="21600" y="245"/>
                    <a:pt x="21600" y="547"/>
                  </a:cubicBezTo>
                  <a:lnTo>
                    <a:pt x="21588" y="547"/>
                  </a:lnTo>
                  <a:lnTo>
                    <a:pt x="21600" y="547"/>
                  </a:lnTo>
                  <a:lnTo>
                    <a:pt x="21600" y="21053"/>
                  </a:lnTo>
                  <a:lnTo>
                    <a:pt x="21588" y="21053"/>
                  </a:lnTo>
                  <a:lnTo>
                    <a:pt x="21600" y="21053"/>
                  </a:lnTo>
                  <a:cubicBezTo>
                    <a:pt x="21600" y="21355"/>
                    <a:pt x="21475" y="21600"/>
                    <a:pt x="21320" y="21600"/>
                  </a:cubicBezTo>
                  <a:lnTo>
                    <a:pt x="21320" y="21577"/>
                  </a:lnTo>
                  <a:lnTo>
                    <a:pt x="21320" y="21600"/>
                  </a:lnTo>
                  <a:lnTo>
                    <a:pt x="280" y="21600"/>
                  </a:lnTo>
                  <a:lnTo>
                    <a:pt x="280" y="21577"/>
                  </a:lnTo>
                  <a:lnTo>
                    <a:pt x="280" y="21600"/>
                  </a:lnTo>
                  <a:cubicBezTo>
                    <a:pt x="125" y="21600"/>
                    <a:pt x="0" y="21355"/>
                    <a:pt x="0" y="21053"/>
                  </a:cubicBezTo>
                  <a:lnTo>
                    <a:pt x="0" y="547"/>
                  </a:lnTo>
                  <a:lnTo>
                    <a:pt x="12" y="547"/>
                  </a:lnTo>
                  <a:lnTo>
                    <a:pt x="0" y="547"/>
                  </a:lnTo>
                  <a:moveTo>
                    <a:pt x="24" y="547"/>
                  </a:moveTo>
                  <a:lnTo>
                    <a:pt x="24" y="21053"/>
                  </a:lnTo>
                  <a:lnTo>
                    <a:pt x="12" y="21053"/>
                  </a:lnTo>
                  <a:lnTo>
                    <a:pt x="24" y="21053"/>
                  </a:lnTo>
                  <a:cubicBezTo>
                    <a:pt x="24" y="21329"/>
                    <a:pt x="139" y="21553"/>
                    <a:pt x="280" y="21553"/>
                  </a:cubicBezTo>
                  <a:lnTo>
                    <a:pt x="21320" y="21553"/>
                  </a:lnTo>
                  <a:cubicBezTo>
                    <a:pt x="21461" y="21553"/>
                    <a:pt x="21576" y="21329"/>
                    <a:pt x="21576" y="21053"/>
                  </a:cubicBezTo>
                  <a:lnTo>
                    <a:pt x="21576" y="547"/>
                  </a:lnTo>
                  <a:cubicBezTo>
                    <a:pt x="21576" y="271"/>
                    <a:pt x="21461" y="47"/>
                    <a:pt x="21320" y="47"/>
                  </a:cubicBezTo>
                  <a:lnTo>
                    <a:pt x="280" y="47"/>
                  </a:lnTo>
                  <a:lnTo>
                    <a:pt x="280" y="23"/>
                  </a:lnTo>
                  <a:lnTo>
                    <a:pt x="280" y="47"/>
                  </a:lnTo>
                  <a:cubicBezTo>
                    <a:pt x="139" y="47"/>
                    <a:pt x="24" y="271"/>
                    <a:pt x="24" y="547"/>
                  </a:cubicBezTo>
                  <a:close/>
                </a:path>
              </a:pathLst>
            </a:custGeom>
            <a:solidFill>
              <a:srgbClr val="BFBFB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73" name="TextBox 9"/>
          <p:cNvSpPr txBox="1"/>
          <p:nvPr/>
        </p:nvSpPr>
        <p:spPr>
          <a:xfrm>
            <a:off x="1632679" y="312314"/>
            <a:ext cx="3657601" cy="412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>
                <a:solidFill>
                  <a:srgbClr val="595959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pPr/>
            <a:r>
              <a:t>AI 헬스케어 초격차 캠프 </a:t>
            </a:r>
          </a:p>
        </p:txBody>
      </p:sp>
      <p:sp>
        <p:nvSpPr>
          <p:cNvPr id="174" name="TextBox 10"/>
          <p:cNvSpPr txBox="1"/>
          <p:nvPr/>
        </p:nvSpPr>
        <p:spPr>
          <a:xfrm>
            <a:off x="582330" y="282263"/>
            <a:ext cx="945680" cy="553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300"/>
              </a:lnSpc>
              <a:defRPr b="1" sz="3600">
                <a:solidFill>
                  <a:srgbClr val="595959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OZ</a:t>
            </a:r>
            <a:r>
              <a:rPr>
                <a:solidFill>
                  <a:srgbClr val="A02B93"/>
                </a:solidFill>
              </a:rPr>
              <a:t>.</a:t>
            </a:r>
          </a:p>
        </p:txBody>
      </p:sp>
      <p:sp>
        <p:nvSpPr>
          <p:cNvPr id="175" name="Freeform 12"/>
          <p:cNvSpPr/>
          <p:nvPr/>
        </p:nvSpPr>
        <p:spPr>
          <a:xfrm>
            <a:off x="1002229" y="3142658"/>
            <a:ext cx="3933374" cy="14047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743" y="0"/>
                </a:moveTo>
                <a:cubicBezTo>
                  <a:pt x="19873" y="0"/>
                  <a:pt x="21600" y="4835"/>
                  <a:pt x="21600" y="10800"/>
                </a:cubicBezTo>
                <a:cubicBezTo>
                  <a:pt x="21600" y="16765"/>
                  <a:pt x="19873" y="21600"/>
                  <a:pt x="17743" y="21600"/>
                </a:cubicBezTo>
                <a:lnTo>
                  <a:pt x="3857" y="21600"/>
                </a:lnTo>
                <a:cubicBezTo>
                  <a:pt x="1727" y="21600"/>
                  <a:pt x="0" y="16765"/>
                  <a:pt x="0" y="10800"/>
                </a:cubicBezTo>
                <a:cubicBezTo>
                  <a:pt x="0" y="4835"/>
                  <a:pt x="1727" y="0"/>
                  <a:pt x="3857" y="0"/>
                </a:cubicBezTo>
                <a:close/>
              </a:path>
            </a:pathLst>
          </a:custGeom>
          <a:solidFill>
            <a:srgbClr val="86E5A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Freeform 15"/>
          <p:cNvSpPr/>
          <p:nvPr/>
        </p:nvSpPr>
        <p:spPr>
          <a:xfrm>
            <a:off x="5103197" y="3142658"/>
            <a:ext cx="3933374" cy="14047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743" y="0"/>
                </a:moveTo>
                <a:cubicBezTo>
                  <a:pt x="19873" y="0"/>
                  <a:pt x="21600" y="4835"/>
                  <a:pt x="21600" y="10800"/>
                </a:cubicBezTo>
                <a:cubicBezTo>
                  <a:pt x="21600" y="16765"/>
                  <a:pt x="19873" y="21600"/>
                  <a:pt x="17743" y="21600"/>
                </a:cubicBezTo>
                <a:lnTo>
                  <a:pt x="3857" y="21600"/>
                </a:lnTo>
                <a:cubicBezTo>
                  <a:pt x="1727" y="21600"/>
                  <a:pt x="0" y="16765"/>
                  <a:pt x="0" y="10800"/>
                </a:cubicBezTo>
                <a:cubicBezTo>
                  <a:pt x="0" y="4835"/>
                  <a:pt x="1727" y="0"/>
                  <a:pt x="3857" y="0"/>
                </a:cubicBezTo>
                <a:close/>
              </a:path>
            </a:pathLst>
          </a:custGeom>
          <a:solidFill>
            <a:srgbClr val="C5FFB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Freeform 18"/>
          <p:cNvSpPr/>
          <p:nvPr/>
        </p:nvSpPr>
        <p:spPr>
          <a:xfrm>
            <a:off x="9201326" y="3142658"/>
            <a:ext cx="3933374" cy="14047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743" y="0"/>
                </a:moveTo>
                <a:cubicBezTo>
                  <a:pt x="19873" y="0"/>
                  <a:pt x="21600" y="4835"/>
                  <a:pt x="21600" y="10800"/>
                </a:cubicBezTo>
                <a:cubicBezTo>
                  <a:pt x="21600" y="16765"/>
                  <a:pt x="19873" y="21600"/>
                  <a:pt x="17743" y="21600"/>
                </a:cubicBezTo>
                <a:lnTo>
                  <a:pt x="3857" y="21600"/>
                </a:lnTo>
                <a:cubicBezTo>
                  <a:pt x="1727" y="21600"/>
                  <a:pt x="0" y="16765"/>
                  <a:pt x="0" y="10800"/>
                </a:cubicBezTo>
                <a:cubicBezTo>
                  <a:pt x="0" y="4835"/>
                  <a:pt x="1727" y="0"/>
                  <a:pt x="3857" y="0"/>
                </a:cubicBezTo>
                <a:close/>
              </a:path>
            </a:pathLst>
          </a:custGeom>
          <a:solidFill>
            <a:srgbClr val="BACC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Freeform 21"/>
          <p:cNvSpPr/>
          <p:nvPr/>
        </p:nvSpPr>
        <p:spPr>
          <a:xfrm>
            <a:off x="13299456" y="3142658"/>
            <a:ext cx="3933374" cy="14047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743" y="0"/>
                </a:moveTo>
                <a:cubicBezTo>
                  <a:pt x="19873" y="0"/>
                  <a:pt x="21600" y="4835"/>
                  <a:pt x="21600" y="10800"/>
                </a:cubicBezTo>
                <a:cubicBezTo>
                  <a:pt x="21600" y="16765"/>
                  <a:pt x="19873" y="21600"/>
                  <a:pt x="17743" y="21600"/>
                </a:cubicBezTo>
                <a:lnTo>
                  <a:pt x="3857" y="21600"/>
                </a:lnTo>
                <a:cubicBezTo>
                  <a:pt x="1727" y="21600"/>
                  <a:pt x="0" y="16765"/>
                  <a:pt x="0" y="10800"/>
                </a:cubicBezTo>
                <a:cubicBezTo>
                  <a:pt x="0" y="4835"/>
                  <a:pt x="1727" y="0"/>
                  <a:pt x="3857" y="0"/>
                </a:cubicBezTo>
                <a:close/>
              </a:path>
            </a:pathLst>
          </a:custGeom>
          <a:solidFill>
            <a:srgbClr val="4C72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TextBox 23"/>
          <p:cNvSpPr txBox="1"/>
          <p:nvPr/>
        </p:nvSpPr>
        <p:spPr>
          <a:xfrm>
            <a:off x="1806850" y="3697011"/>
            <a:ext cx="2324132" cy="438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b="1" sz="3500">
                <a:solidFill>
                  <a:srgbClr val="280F91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lvl1pPr>
          </a:lstStyle>
          <a:p>
            <a:pPr/>
            <a:r>
              <a:t>수집/저장</a:t>
            </a:r>
          </a:p>
        </p:txBody>
      </p:sp>
      <p:sp>
        <p:nvSpPr>
          <p:cNvPr id="180" name="TextBox 24"/>
          <p:cNvSpPr txBox="1"/>
          <p:nvPr/>
        </p:nvSpPr>
        <p:spPr>
          <a:xfrm>
            <a:off x="5771986" y="3697011"/>
            <a:ext cx="2595796" cy="438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b="1" sz="3500">
                <a:solidFill>
                  <a:srgbClr val="280F91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lvl1pPr>
          </a:lstStyle>
          <a:p>
            <a:pPr/>
            <a:r>
              <a:t>탐색/계획</a:t>
            </a:r>
          </a:p>
        </p:txBody>
      </p:sp>
      <p:sp>
        <p:nvSpPr>
          <p:cNvPr id="181" name="TextBox 25"/>
          <p:cNvSpPr txBox="1"/>
          <p:nvPr/>
        </p:nvSpPr>
        <p:spPr>
          <a:xfrm>
            <a:off x="9725228" y="3697011"/>
            <a:ext cx="2885572" cy="438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b="1" sz="3500">
                <a:solidFill>
                  <a:srgbClr val="280F91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lvl1pPr>
          </a:lstStyle>
          <a:p>
            <a:pPr/>
            <a:r>
              <a:t>정제/가공</a:t>
            </a:r>
          </a:p>
        </p:txBody>
      </p:sp>
      <p:sp>
        <p:nvSpPr>
          <p:cNvPr id="182" name="TextBox 26"/>
          <p:cNvSpPr txBox="1"/>
          <p:nvPr/>
        </p:nvSpPr>
        <p:spPr>
          <a:xfrm>
            <a:off x="13919001" y="3697011"/>
            <a:ext cx="2694283" cy="438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b="1" sz="3500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lvl1pPr>
          </a:lstStyle>
          <a:p>
            <a:pPr/>
            <a:r>
              <a:t>인사이트 도출</a:t>
            </a:r>
          </a:p>
        </p:txBody>
      </p:sp>
      <p:sp>
        <p:nvSpPr>
          <p:cNvPr id="183" name="TextBox 27"/>
          <p:cNvSpPr txBox="1"/>
          <p:nvPr/>
        </p:nvSpPr>
        <p:spPr>
          <a:xfrm>
            <a:off x="1363728" y="6487600"/>
            <a:ext cx="3571876" cy="731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indent="0" algn="ctr">
              <a:lnSpc>
                <a:spcPts val="2800"/>
              </a:lnSpc>
              <a:defRPr sz="2400">
                <a:latin typeface="Garet"/>
                <a:ea typeface="Garet"/>
                <a:cs typeface="Garet"/>
                <a:sym typeface="Garet"/>
              </a:defRPr>
            </a:pPr>
            <a:r>
              <a:t>환자의 진단명, 처방 내역 등 원본 데이터를 모으는 단계</a:t>
            </a:r>
          </a:p>
        </p:txBody>
      </p:sp>
      <p:sp>
        <p:nvSpPr>
          <p:cNvPr id="184" name="AutoShape 28"/>
          <p:cNvSpPr/>
          <p:nvPr/>
        </p:nvSpPr>
        <p:spPr>
          <a:xfrm>
            <a:off x="2954628" y="5000904"/>
            <a:ext cx="1" cy="682096"/>
          </a:xfrm>
          <a:prstGeom prst="line">
            <a:avLst/>
          </a:prstGeom>
          <a:ln w="28575">
            <a:solidFill>
              <a:srgbClr val="86E5A1"/>
            </a:solidFill>
            <a:prstDash val="sysDot"/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AutoShape 29"/>
          <p:cNvSpPr/>
          <p:nvPr/>
        </p:nvSpPr>
        <p:spPr>
          <a:xfrm>
            <a:off x="7071153" y="5009855"/>
            <a:ext cx="1" cy="1249614"/>
          </a:xfrm>
          <a:prstGeom prst="line">
            <a:avLst/>
          </a:prstGeom>
          <a:ln w="28575">
            <a:solidFill>
              <a:srgbClr val="86E5A1"/>
            </a:solidFill>
            <a:prstDash val="sysDot"/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AutoShape 30"/>
          <p:cNvSpPr/>
          <p:nvPr/>
        </p:nvSpPr>
        <p:spPr>
          <a:xfrm>
            <a:off x="11169283" y="5000904"/>
            <a:ext cx="1" cy="1815257"/>
          </a:xfrm>
          <a:prstGeom prst="line">
            <a:avLst/>
          </a:prstGeom>
          <a:ln w="28575">
            <a:solidFill>
              <a:srgbClr val="86E5A1"/>
            </a:solidFill>
            <a:prstDash val="sysDot"/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AutoShape 31"/>
          <p:cNvSpPr/>
          <p:nvPr/>
        </p:nvSpPr>
        <p:spPr>
          <a:xfrm>
            <a:off x="15283090" y="5050224"/>
            <a:ext cx="1" cy="2141845"/>
          </a:xfrm>
          <a:prstGeom prst="line">
            <a:avLst/>
          </a:prstGeom>
          <a:ln w="28575">
            <a:solidFill>
              <a:srgbClr val="86E5A1"/>
            </a:solidFill>
            <a:prstDash val="sysDot"/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Freeform 33"/>
          <p:cNvSpPr/>
          <p:nvPr/>
        </p:nvSpPr>
        <p:spPr>
          <a:xfrm>
            <a:off x="2797328" y="5683001"/>
            <a:ext cx="314604" cy="314604"/>
          </a:xfrm>
          <a:prstGeom prst="ellipse">
            <a:avLst/>
          </a:prstGeom>
          <a:solidFill>
            <a:srgbClr val="280F9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Freeform 36"/>
          <p:cNvSpPr/>
          <p:nvPr/>
        </p:nvSpPr>
        <p:spPr>
          <a:xfrm>
            <a:off x="6912581" y="6259467"/>
            <a:ext cx="314604" cy="314604"/>
          </a:xfrm>
          <a:prstGeom prst="ellipse">
            <a:avLst/>
          </a:prstGeom>
          <a:solidFill>
            <a:srgbClr val="280F9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Freeform 39"/>
          <p:cNvSpPr/>
          <p:nvPr/>
        </p:nvSpPr>
        <p:spPr>
          <a:xfrm>
            <a:off x="11010711" y="6816160"/>
            <a:ext cx="314604" cy="314604"/>
          </a:xfrm>
          <a:prstGeom prst="ellipse">
            <a:avLst/>
          </a:prstGeom>
          <a:solidFill>
            <a:srgbClr val="280F9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Freeform 42"/>
          <p:cNvSpPr/>
          <p:nvPr/>
        </p:nvSpPr>
        <p:spPr>
          <a:xfrm>
            <a:off x="15125789" y="7192068"/>
            <a:ext cx="314604" cy="314604"/>
          </a:xfrm>
          <a:prstGeom prst="ellipse">
            <a:avLst/>
          </a:prstGeom>
          <a:solidFill>
            <a:srgbClr val="280F9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TextBox 44"/>
          <p:cNvSpPr txBox="1"/>
          <p:nvPr/>
        </p:nvSpPr>
        <p:spPr>
          <a:xfrm>
            <a:off x="5544573" y="6982986"/>
            <a:ext cx="3050620" cy="731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2400">
                <a:latin typeface="Garet"/>
                <a:ea typeface="Garet"/>
                <a:cs typeface="Garet"/>
                <a:sym typeface="Garet"/>
              </a:defRPr>
            </a:lvl1pPr>
            <a:lvl2pPr indent="0" algn="ctr">
              <a:lnSpc>
                <a:spcPts val="2800"/>
              </a:lnSpc>
              <a:defRPr sz="2400">
                <a:latin typeface="Garet"/>
                <a:ea typeface="Garet"/>
                <a:cs typeface="Garet"/>
                <a:sym typeface="Garet"/>
              </a:defRPr>
            </a:lvl2pPr>
          </a:lstStyle>
          <a:p>
            <a:pPr/>
            <a:r>
              <a:t>데이터를 탐색하여</a:t>
            </a:r>
          </a:p>
          <a:p>
            <a:pPr lvl="1"/>
            <a:r>
              <a:t>분석  로직 설계</a:t>
            </a:r>
          </a:p>
        </p:txBody>
      </p:sp>
      <p:sp>
        <p:nvSpPr>
          <p:cNvPr id="193" name="TextBox 45"/>
          <p:cNvSpPr txBox="1"/>
          <p:nvPr/>
        </p:nvSpPr>
        <p:spPr>
          <a:xfrm>
            <a:off x="9330791" y="7540338"/>
            <a:ext cx="3674445" cy="731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indent="0" algn="ctr">
              <a:lnSpc>
                <a:spcPts val="2800"/>
              </a:lnSpc>
              <a:defRPr sz="2400">
                <a:latin typeface="Garet"/>
                <a:ea typeface="Garet"/>
                <a:cs typeface="Garet"/>
                <a:sym typeface="Garet"/>
              </a:defRPr>
            </a:pPr>
            <a:r>
              <a:t>데이터의 노이즈를 제어하여 분석에 최적화된 형태로 변환</a:t>
            </a:r>
          </a:p>
        </p:txBody>
      </p:sp>
      <p:sp>
        <p:nvSpPr>
          <p:cNvPr id="194" name="TextBox 46"/>
          <p:cNvSpPr txBox="1"/>
          <p:nvPr/>
        </p:nvSpPr>
        <p:spPr>
          <a:xfrm>
            <a:off x="13299456" y="8021022"/>
            <a:ext cx="3933374" cy="731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2400">
                <a:latin typeface="Garet"/>
                <a:ea typeface="Garet"/>
                <a:cs typeface="Garet"/>
                <a:sym typeface="Garet"/>
              </a:defRPr>
            </a:lvl1pPr>
            <a:lvl2pPr indent="0" algn="ctr">
              <a:lnSpc>
                <a:spcPts val="2800"/>
              </a:lnSpc>
              <a:defRPr sz="2400">
                <a:latin typeface="Garet"/>
                <a:ea typeface="Garet"/>
                <a:cs typeface="Garet"/>
                <a:sym typeface="Garet"/>
              </a:defRPr>
            </a:lvl2pPr>
          </a:lstStyle>
          <a:p>
            <a:pPr/>
            <a:r>
              <a:t>데이터 속에 숨겨진 의미를</a:t>
            </a:r>
          </a:p>
          <a:p>
            <a:pPr lvl="1"/>
            <a:r>
              <a:t>찾아내고, AI 모델 설계에 반영</a:t>
            </a:r>
          </a:p>
        </p:txBody>
      </p:sp>
      <p:sp>
        <p:nvSpPr>
          <p:cNvPr id="195" name="TextBox 47"/>
          <p:cNvSpPr txBox="1"/>
          <p:nvPr/>
        </p:nvSpPr>
        <p:spPr>
          <a:xfrm>
            <a:off x="967511" y="1839647"/>
            <a:ext cx="3531097" cy="568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400"/>
              </a:lnSpc>
              <a:defRPr b="1" sz="3200">
                <a:solidFill>
                  <a:srgbClr val="444444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defRPr>
            </a:lvl1pPr>
          </a:lstStyle>
          <a:p>
            <a:pPr/>
            <a:r>
              <a:t>데이터 분석 프로세스</a:t>
            </a:r>
          </a:p>
        </p:txBody>
      </p:sp>
      <p:sp>
        <p:nvSpPr>
          <p:cNvPr id="196" name="TextBox 48"/>
          <p:cNvSpPr txBox="1"/>
          <p:nvPr/>
        </p:nvSpPr>
        <p:spPr>
          <a:xfrm>
            <a:off x="9474292" y="323850"/>
            <a:ext cx="7534502" cy="412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3200"/>
              </a:lnSpc>
              <a:defRPr b="1" sz="2700">
                <a:solidFill>
                  <a:srgbClr val="222222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lvl1pPr>
          </a:lstStyle>
          <a:p>
            <a:pPr/>
            <a:r>
              <a:t>데이터 분석이란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Freeform 2"/>
          <p:cNvSpPr/>
          <p:nvPr/>
        </p:nvSpPr>
        <p:spPr>
          <a:xfrm>
            <a:off x="914400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Freeform 3"/>
          <p:cNvSpPr/>
          <p:nvPr/>
        </p:nvSpPr>
        <p:spPr>
          <a:xfrm>
            <a:off x="0" y="-1905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Freeform 4"/>
          <p:cNvSpPr/>
          <p:nvPr/>
        </p:nvSpPr>
        <p:spPr>
          <a:xfrm rot="10800000">
            <a:off x="0" y="514350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Freeform 5"/>
          <p:cNvSpPr/>
          <p:nvPr/>
        </p:nvSpPr>
        <p:spPr>
          <a:xfrm rot="10800000">
            <a:off x="9117531" y="5143489"/>
            <a:ext cx="9170469" cy="51435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206" name="Group 6"/>
          <p:cNvGrpSpPr/>
          <p:nvPr/>
        </p:nvGrpSpPr>
        <p:grpSpPr>
          <a:xfrm>
            <a:off x="481364" y="1131074"/>
            <a:ext cx="17272351" cy="8840629"/>
            <a:chOff x="0" y="0"/>
            <a:chExt cx="17272350" cy="8840627"/>
          </a:xfrm>
        </p:grpSpPr>
        <p:sp>
          <p:nvSpPr>
            <p:cNvPr id="204" name="Freeform 7"/>
            <p:cNvSpPr/>
            <p:nvPr/>
          </p:nvSpPr>
          <p:spPr>
            <a:xfrm>
              <a:off x="9524" y="9524"/>
              <a:ext cx="17253301" cy="8821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25"/>
                  </a:moveTo>
                  <a:cubicBezTo>
                    <a:pt x="0" y="235"/>
                    <a:pt x="120" y="0"/>
                    <a:pt x="269" y="0"/>
                  </a:cubicBezTo>
                  <a:lnTo>
                    <a:pt x="21331" y="0"/>
                  </a:lnTo>
                  <a:cubicBezTo>
                    <a:pt x="21480" y="0"/>
                    <a:pt x="21600" y="235"/>
                    <a:pt x="21600" y="525"/>
                  </a:cubicBezTo>
                  <a:lnTo>
                    <a:pt x="21600" y="21075"/>
                  </a:lnTo>
                  <a:cubicBezTo>
                    <a:pt x="21600" y="21365"/>
                    <a:pt x="21480" y="21600"/>
                    <a:pt x="21331" y="21600"/>
                  </a:cubicBezTo>
                  <a:lnTo>
                    <a:pt x="269" y="21600"/>
                  </a:lnTo>
                  <a:cubicBezTo>
                    <a:pt x="120" y="21600"/>
                    <a:pt x="0" y="21365"/>
                    <a:pt x="0" y="2107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05" name="Freeform 8"/>
            <p:cNvSpPr/>
            <p:nvPr/>
          </p:nvSpPr>
          <p:spPr>
            <a:xfrm>
              <a:off x="-1" y="-1"/>
              <a:ext cx="17272351" cy="8840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47"/>
                  </a:moveTo>
                  <a:cubicBezTo>
                    <a:pt x="0" y="245"/>
                    <a:pt x="125" y="0"/>
                    <a:pt x="280" y="0"/>
                  </a:cubicBezTo>
                  <a:lnTo>
                    <a:pt x="21320" y="0"/>
                  </a:lnTo>
                  <a:lnTo>
                    <a:pt x="21320" y="23"/>
                  </a:lnTo>
                  <a:lnTo>
                    <a:pt x="21320" y="0"/>
                  </a:lnTo>
                  <a:cubicBezTo>
                    <a:pt x="21475" y="0"/>
                    <a:pt x="21600" y="245"/>
                    <a:pt x="21600" y="547"/>
                  </a:cubicBezTo>
                  <a:lnTo>
                    <a:pt x="21588" y="547"/>
                  </a:lnTo>
                  <a:lnTo>
                    <a:pt x="21600" y="547"/>
                  </a:lnTo>
                  <a:lnTo>
                    <a:pt x="21600" y="21053"/>
                  </a:lnTo>
                  <a:lnTo>
                    <a:pt x="21588" y="21053"/>
                  </a:lnTo>
                  <a:lnTo>
                    <a:pt x="21600" y="21053"/>
                  </a:lnTo>
                  <a:cubicBezTo>
                    <a:pt x="21600" y="21355"/>
                    <a:pt x="21475" y="21600"/>
                    <a:pt x="21320" y="21600"/>
                  </a:cubicBezTo>
                  <a:lnTo>
                    <a:pt x="21320" y="21577"/>
                  </a:lnTo>
                  <a:lnTo>
                    <a:pt x="21320" y="21600"/>
                  </a:lnTo>
                  <a:lnTo>
                    <a:pt x="280" y="21600"/>
                  </a:lnTo>
                  <a:lnTo>
                    <a:pt x="280" y="21577"/>
                  </a:lnTo>
                  <a:lnTo>
                    <a:pt x="280" y="21600"/>
                  </a:lnTo>
                  <a:cubicBezTo>
                    <a:pt x="125" y="21600"/>
                    <a:pt x="0" y="21355"/>
                    <a:pt x="0" y="21053"/>
                  </a:cubicBezTo>
                  <a:lnTo>
                    <a:pt x="0" y="547"/>
                  </a:lnTo>
                  <a:lnTo>
                    <a:pt x="12" y="547"/>
                  </a:lnTo>
                  <a:lnTo>
                    <a:pt x="0" y="547"/>
                  </a:lnTo>
                  <a:moveTo>
                    <a:pt x="24" y="547"/>
                  </a:moveTo>
                  <a:lnTo>
                    <a:pt x="24" y="21053"/>
                  </a:lnTo>
                  <a:lnTo>
                    <a:pt x="12" y="21053"/>
                  </a:lnTo>
                  <a:lnTo>
                    <a:pt x="24" y="21053"/>
                  </a:lnTo>
                  <a:cubicBezTo>
                    <a:pt x="24" y="21329"/>
                    <a:pt x="139" y="21553"/>
                    <a:pt x="280" y="21553"/>
                  </a:cubicBezTo>
                  <a:lnTo>
                    <a:pt x="21320" y="21553"/>
                  </a:lnTo>
                  <a:cubicBezTo>
                    <a:pt x="21461" y="21553"/>
                    <a:pt x="21576" y="21329"/>
                    <a:pt x="21576" y="21053"/>
                  </a:cubicBezTo>
                  <a:lnTo>
                    <a:pt x="21576" y="547"/>
                  </a:lnTo>
                  <a:cubicBezTo>
                    <a:pt x="21576" y="271"/>
                    <a:pt x="21461" y="47"/>
                    <a:pt x="21320" y="47"/>
                  </a:cubicBezTo>
                  <a:lnTo>
                    <a:pt x="280" y="47"/>
                  </a:lnTo>
                  <a:lnTo>
                    <a:pt x="280" y="23"/>
                  </a:lnTo>
                  <a:lnTo>
                    <a:pt x="280" y="47"/>
                  </a:lnTo>
                  <a:cubicBezTo>
                    <a:pt x="139" y="47"/>
                    <a:pt x="24" y="271"/>
                    <a:pt x="24" y="547"/>
                  </a:cubicBezTo>
                  <a:close/>
                </a:path>
              </a:pathLst>
            </a:custGeom>
            <a:solidFill>
              <a:srgbClr val="BFBFB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207" name="TextBox 9"/>
          <p:cNvSpPr txBox="1"/>
          <p:nvPr/>
        </p:nvSpPr>
        <p:spPr>
          <a:xfrm>
            <a:off x="1632679" y="312314"/>
            <a:ext cx="3657601" cy="412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>
                <a:solidFill>
                  <a:srgbClr val="595959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pPr/>
            <a:r>
              <a:t>AI 헬스케어 초격차 캠프 </a:t>
            </a:r>
          </a:p>
        </p:txBody>
      </p:sp>
      <p:sp>
        <p:nvSpPr>
          <p:cNvPr id="208" name="TextBox 10"/>
          <p:cNvSpPr txBox="1"/>
          <p:nvPr/>
        </p:nvSpPr>
        <p:spPr>
          <a:xfrm>
            <a:off x="582330" y="282263"/>
            <a:ext cx="945680" cy="553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300"/>
              </a:lnSpc>
              <a:defRPr b="1" sz="3600">
                <a:solidFill>
                  <a:srgbClr val="595959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OZ</a:t>
            </a:r>
            <a:r>
              <a:rPr>
                <a:solidFill>
                  <a:srgbClr val="A02B93"/>
                </a:solidFill>
              </a:rPr>
              <a:t>.</a:t>
            </a:r>
          </a:p>
        </p:txBody>
      </p:sp>
      <p:sp>
        <p:nvSpPr>
          <p:cNvPr id="209" name="Freeform 12"/>
          <p:cNvSpPr/>
          <p:nvPr/>
        </p:nvSpPr>
        <p:spPr>
          <a:xfrm rot="10800000">
            <a:off x="848904" y="2095979"/>
            <a:ext cx="4057267" cy="3862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8" h="21600" fill="norm" stroke="1" extrusionOk="0">
                <a:moveTo>
                  <a:pt x="21081" y="0"/>
                </a:moveTo>
                <a:lnTo>
                  <a:pt x="26" y="0"/>
                </a:lnTo>
                <a:cubicBezTo>
                  <a:pt x="18" y="0"/>
                  <a:pt x="10" y="38"/>
                  <a:pt x="6" y="102"/>
                </a:cubicBezTo>
                <a:cubicBezTo>
                  <a:pt x="1" y="166"/>
                  <a:pt x="-1" y="250"/>
                  <a:pt x="1" y="330"/>
                </a:cubicBezTo>
                <a:lnTo>
                  <a:pt x="477" y="21270"/>
                </a:lnTo>
                <a:cubicBezTo>
                  <a:pt x="482" y="21464"/>
                  <a:pt x="498" y="21600"/>
                  <a:pt x="517" y="21600"/>
                </a:cubicBezTo>
                <a:lnTo>
                  <a:pt x="21572" y="21600"/>
                </a:lnTo>
                <a:cubicBezTo>
                  <a:pt x="21580" y="21600"/>
                  <a:pt x="21588" y="21562"/>
                  <a:pt x="21592" y="21498"/>
                </a:cubicBezTo>
                <a:cubicBezTo>
                  <a:pt x="21597" y="21434"/>
                  <a:pt x="21599" y="21350"/>
                  <a:pt x="21597" y="21270"/>
                </a:cubicBezTo>
                <a:lnTo>
                  <a:pt x="21121" y="330"/>
                </a:lnTo>
                <a:cubicBezTo>
                  <a:pt x="21116" y="136"/>
                  <a:pt x="21100" y="0"/>
                  <a:pt x="21081" y="0"/>
                </a:cubicBezTo>
                <a:close/>
              </a:path>
            </a:pathLst>
          </a:custGeom>
          <a:solidFill>
            <a:srgbClr val="FFF1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TextBox 14"/>
          <p:cNvSpPr txBox="1"/>
          <p:nvPr/>
        </p:nvSpPr>
        <p:spPr>
          <a:xfrm>
            <a:off x="967511" y="1839647"/>
            <a:ext cx="3387775" cy="568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400"/>
              </a:lnSpc>
              <a:defRPr b="1" sz="3200">
                <a:solidFill>
                  <a:srgbClr val="444444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defRPr>
            </a:lvl1pPr>
          </a:lstStyle>
          <a:p>
            <a:pPr/>
            <a:r>
              <a:t>왜 데이터 분석인가?</a:t>
            </a:r>
          </a:p>
        </p:txBody>
      </p:sp>
      <p:sp>
        <p:nvSpPr>
          <p:cNvPr id="211" name="TextBox 15"/>
          <p:cNvSpPr txBox="1"/>
          <p:nvPr/>
        </p:nvSpPr>
        <p:spPr>
          <a:xfrm>
            <a:off x="967510" y="3092537"/>
            <a:ext cx="13805193" cy="4470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200"/>
              </a:lnSpc>
              <a:defRPr spc="-115" sz="2500">
                <a:solidFill>
                  <a:srgbClr val="444444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pPr>
            <a:r>
              <a:t>우리는 매일 엄청난 양의 데이터를 생성하고 있습니다.</a:t>
            </a:r>
          </a:p>
          <a:p>
            <a:pPr>
              <a:lnSpc>
                <a:spcPts val="3200"/>
              </a:lnSpc>
              <a:defRPr spc="-115" sz="2500">
                <a:solidFill>
                  <a:srgbClr val="444444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pPr>
            <a:r>
              <a:t>환자의 진료 기록, 수많은 검사 결과, 웨어러블 기기에서 측정되는 생체 신호까지.</a:t>
            </a:r>
          </a:p>
          <a:p>
            <a:pPr>
              <a:lnSpc>
                <a:spcPts val="3200"/>
              </a:lnSpc>
              <a:defRPr spc="-115" sz="2500">
                <a:solidFill>
                  <a:srgbClr val="444444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pPr>
            <a:r>
              <a:t>이 모든 데이터는 그 자체로는 의미 없는 숫자들의 나열일 뿐입니다.</a:t>
            </a:r>
          </a:p>
          <a:p>
            <a:pPr>
              <a:lnSpc>
                <a:spcPts val="3200"/>
              </a:lnSpc>
            </a:pPr>
          </a:p>
          <a:p>
            <a:pPr>
              <a:lnSpc>
                <a:spcPts val="3200"/>
              </a:lnSpc>
              <a:defRPr spc="-115" sz="2500">
                <a:solidFill>
                  <a:srgbClr val="444444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pPr>
            <a:r>
              <a:t>하지만 이 데이터 속에는 우리가 찾고자 하는 '정답'이 숨어있습니다.</a:t>
            </a:r>
          </a:p>
          <a:p>
            <a:pPr lvl="1" marL="539754" indent="-269877">
              <a:lnSpc>
                <a:spcPts val="3200"/>
              </a:lnSpc>
              <a:buSzPct val="100000"/>
              <a:buFont typeface="Arial"/>
              <a:buChar char="•"/>
              <a:defRPr spc="-115" sz="2500">
                <a:solidFill>
                  <a:srgbClr val="444444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pPr>
            <a:r>
              <a:t>어떤 환자가 고위험군인지?</a:t>
            </a:r>
          </a:p>
          <a:p>
            <a:pPr lvl="1" marL="539754" indent="-269877">
              <a:lnSpc>
                <a:spcPts val="3200"/>
              </a:lnSpc>
              <a:buSzPct val="100000"/>
              <a:buFont typeface="Arial"/>
              <a:buChar char="•"/>
              <a:defRPr spc="-115" sz="2500">
                <a:solidFill>
                  <a:srgbClr val="444444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pPr>
            <a:r>
              <a:t>어떤 치료법이 가장 효과적인지?</a:t>
            </a:r>
          </a:p>
          <a:p>
            <a:pPr lvl="1" marL="539754" indent="-269877">
              <a:lnSpc>
                <a:spcPts val="3200"/>
              </a:lnSpc>
              <a:buSzPct val="100000"/>
              <a:buFont typeface="Arial"/>
              <a:buChar char="•"/>
              <a:defRPr spc="-115" sz="2500">
                <a:solidFill>
                  <a:srgbClr val="444444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pPr>
            <a:r>
              <a:t>미래에 어떤 질병이 유행할지?</a:t>
            </a:r>
          </a:p>
          <a:p>
            <a:pPr>
              <a:lnSpc>
                <a:spcPts val="3200"/>
              </a:lnSpc>
            </a:pPr>
          </a:p>
          <a:p>
            <a:pPr>
              <a:lnSpc>
                <a:spcPts val="3200"/>
              </a:lnSpc>
              <a:defRPr spc="-115" sz="2500">
                <a:solidFill>
                  <a:srgbClr val="444444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pPr>
            <a:r>
              <a:t>데이터 분석은 이 '정답'을 찾아내어 눈에 보이는 </a:t>
            </a:r>
            <a:r>
              <a:rPr b="1"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'인사이트'로 바꾸는 과정</a:t>
            </a:r>
            <a:r>
              <a:t>입니다.</a:t>
            </a:r>
          </a:p>
          <a:p>
            <a:pPr>
              <a:lnSpc>
                <a:spcPts val="3200"/>
              </a:lnSpc>
              <a:defRPr spc="-115" sz="2500">
                <a:solidFill>
                  <a:srgbClr val="444444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pPr>
            <a:r>
              <a:t>복잡한 데이터 더미에서 핵심을 꿰뚫어보고, 직관적으로 이해할 수 있는 의미 있는 정보로 재탄생시킵니다.</a:t>
            </a:r>
          </a:p>
        </p:txBody>
      </p:sp>
      <p:sp>
        <p:nvSpPr>
          <p:cNvPr id="212" name="Freeform 17"/>
          <p:cNvSpPr/>
          <p:nvPr/>
        </p:nvSpPr>
        <p:spPr>
          <a:xfrm>
            <a:off x="1142999" y="8115300"/>
            <a:ext cx="16001998" cy="1428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7" y="0"/>
                </a:moveTo>
                <a:lnTo>
                  <a:pt x="21513" y="0"/>
                </a:lnTo>
                <a:cubicBezTo>
                  <a:pt x="21536" y="0"/>
                  <a:pt x="21558" y="102"/>
                  <a:pt x="21575" y="285"/>
                </a:cubicBezTo>
                <a:cubicBezTo>
                  <a:pt x="21591" y="467"/>
                  <a:pt x="21600" y="714"/>
                  <a:pt x="21600" y="972"/>
                </a:cubicBezTo>
                <a:lnTo>
                  <a:pt x="21600" y="20628"/>
                </a:lnTo>
                <a:cubicBezTo>
                  <a:pt x="21600" y="20886"/>
                  <a:pt x="21591" y="21133"/>
                  <a:pt x="21575" y="21315"/>
                </a:cubicBezTo>
                <a:cubicBezTo>
                  <a:pt x="21558" y="21498"/>
                  <a:pt x="21536" y="21600"/>
                  <a:pt x="21513" y="21600"/>
                </a:cubicBezTo>
                <a:lnTo>
                  <a:pt x="87" y="21600"/>
                </a:lnTo>
                <a:cubicBezTo>
                  <a:pt x="64" y="21600"/>
                  <a:pt x="42" y="21498"/>
                  <a:pt x="25" y="21315"/>
                </a:cubicBezTo>
                <a:cubicBezTo>
                  <a:pt x="9" y="21133"/>
                  <a:pt x="0" y="20886"/>
                  <a:pt x="0" y="20628"/>
                </a:cubicBezTo>
                <a:lnTo>
                  <a:pt x="0" y="972"/>
                </a:lnTo>
                <a:cubicBezTo>
                  <a:pt x="0" y="714"/>
                  <a:pt x="9" y="467"/>
                  <a:pt x="25" y="285"/>
                </a:cubicBezTo>
                <a:cubicBezTo>
                  <a:pt x="42" y="102"/>
                  <a:pt x="64" y="0"/>
                  <a:pt x="8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rnd">
            <a:solidFill>
              <a:srgbClr val="44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TextBox 19"/>
          <p:cNvSpPr txBox="1"/>
          <p:nvPr/>
        </p:nvSpPr>
        <p:spPr>
          <a:xfrm>
            <a:off x="5160690" y="8533976"/>
            <a:ext cx="7966620" cy="50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000"/>
              </a:lnSpc>
              <a:defRPr b="1" spc="-81" sz="2700">
                <a:solidFill>
                  <a:srgbClr val="444444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defRPr>
            </a:lvl1pPr>
          </a:lstStyle>
          <a:p>
            <a:pPr/>
            <a:r>
              <a:t>이 인사이트는 AI 모델 설계를 위한 핵심 근거로 활용됩니다.</a:t>
            </a:r>
          </a:p>
        </p:txBody>
      </p:sp>
      <p:sp>
        <p:nvSpPr>
          <p:cNvPr id="214" name="TextBox 20"/>
          <p:cNvSpPr txBox="1"/>
          <p:nvPr/>
        </p:nvSpPr>
        <p:spPr>
          <a:xfrm>
            <a:off x="9474292" y="323850"/>
            <a:ext cx="7534502" cy="412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3200"/>
              </a:lnSpc>
              <a:defRPr b="1" sz="2700">
                <a:solidFill>
                  <a:srgbClr val="222222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lvl1pPr>
          </a:lstStyle>
          <a:p>
            <a:pPr/>
            <a:r>
              <a:t>데이터 분석이란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Freeform 2"/>
          <p:cNvSpPr/>
          <p:nvPr/>
        </p:nvSpPr>
        <p:spPr>
          <a:xfrm>
            <a:off x="914400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Freeform 3"/>
          <p:cNvSpPr/>
          <p:nvPr/>
        </p:nvSpPr>
        <p:spPr>
          <a:xfrm>
            <a:off x="0" y="-1905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Freeform 4"/>
          <p:cNvSpPr/>
          <p:nvPr/>
        </p:nvSpPr>
        <p:spPr>
          <a:xfrm rot="10800000">
            <a:off x="0" y="514350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Freeform 5"/>
          <p:cNvSpPr/>
          <p:nvPr/>
        </p:nvSpPr>
        <p:spPr>
          <a:xfrm rot="10800000">
            <a:off x="9117531" y="5143489"/>
            <a:ext cx="9170469" cy="51435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224" name="Group 6"/>
          <p:cNvGrpSpPr/>
          <p:nvPr/>
        </p:nvGrpSpPr>
        <p:grpSpPr>
          <a:xfrm>
            <a:off x="481364" y="1131074"/>
            <a:ext cx="17272351" cy="8840629"/>
            <a:chOff x="0" y="0"/>
            <a:chExt cx="17272350" cy="8840627"/>
          </a:xfrm>
        </p:grpSpPr>
        <p:sp>
          <p:nvSpPr>
            <p:cNvPr id="222" name="Freeform 7"/>
            <p:cNvSpPr/>
            <p:nvPr/>
          </p:nvSpPr>
          <p:spPr>
            <a:xfrm>
              <a:off x="9524" y="9524"/>
              <a:ext cx="17253301" cy="8821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25"/>
                  </a:moveTo>
                  <a:cubicBezTo>
                    <a:pt x="0" y="235"/>
                    <a:pt x="120" y="0"/>
                    <a:pt x="269" y="0"/>
                  </a:cubicBezTo>
                  <a:lnTo>
                    <a:pt x="21331" y="0"/>
                  </a:lnTo>
                  <a:cubicBezTo>
                    <a:pt x="21480" y="0"/>
                    <a:pt x="21600" y="235"/>
                    <a:pt x="21600" y="525"/>
                  </a:cubicBezTo>
                  <a:lnTo>
                    <a:pt x="21600" y="21075"/>
                  </a:lnTo>
                  <a:cubicBezTo>
                    <a:pt x="21600" y="21365"/>
                    <a:pt x="21480" y="21600"/>
                    <a:pt x="21331" y="21600"/>
                  </a:cubicBezTo>
                  <a:lnTo>
                    <a:pt x="269" y="21600"/>
                  </a:lnTo>
                  <a:cubicBezTo>
                    <a:pt x="120" y="21600"/>
                    <a:pt x="0" y="21365"/>
                    <a:pt x="0" y="2107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3" name="Freeform 8"/>
            <p:cNvSpPr/>
            <p:nvPr/>
          </p:nvSpPr>
          <p:spPr>
            <a:xfrm>
              <a:off x="-1" y="-1"/>
              <a:ext cx="17272351" cy="8840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47"/>
                  </a:moveTo>
                  <a:cubicBezTo>
                    <a:pt x="0" y="245"/>
                    <a:pt x="125" y="0"/>
                    <a:pt x="280" y="0"/>
                  </a:cubicBezTo>
                  <a:lnTo>
                    <a:pt x="21320" y="0"/>
                  </a:lnTo>
                  <a:lnTo>
                    <a:pt x="21320" y="23"/>
                  </a:lnTo>
                  <a:lnTo>
                    <a:pt x="21320" y="0"/>
                  </a:lnTo>
                  <a:cubicBezTo>
                    <a:pt x="21475" y="0"/>
                    <a:pt x="21600" y="245"/>
                    <a:pt x="21600" y="547"/>
                  </a:cubicBezTo>
                  <a:lnTo>
                    <a:pt x="21588" y="547"/>
                  </a:lnTo>
                  <a:lnTo>
                    <a:pt x="21600" y="547"/>
                  </a:lnTo>
                  <a:lnTo>
                    <a:pt x="21600" y="21053"/>
                  </a:lnTo>
                  <a:lnTo>
                    <a:pt x="21588" y="21053"/>
                  </a:lnTo>
                  <a:lnTo>
                    <a:pt x="21600" y="21053"/>
                  </a:lnTo>
                  <a:cubicBezTo>
                    <a:pt x="21600" y="21355"/>
                    <a:pt x="21475" y="21600"/>
                    <a:pt x="21320" y="21600"/>
                  </a:cubicBezTo>
                  <a:lnTo>
                    <a:pt x="21320" y="21577"/>
                  </a:lnTo>
                  <a:lnTo>
                    <a:pt x="21320" y="21600"/>
                  </a:lnTo>
                  <a:lnTo>
                    <a:pt x="280" y="21600"/>
                  </a:lnTo>
                  <a:lnTo>
                    <a:pt x="280" y="21577"/>
                  </a:lnTo>
                  <a:lnTo>
                    <a:pt x="280" y="21600"/>
                  </a:lnTo>
                  <a:cubicBezTo>
                    <a:pt x="125" y="21600"/>
                    <a:pt x="0" y="21355"/>
                    <a:pt x="0" y="21053"/>
                  </a:cubicBezTo>
                  <a:lnTo>
                    <a:pt x="0" y="547"/>
                  </a:lnTo>
                  <a:lnTo>
                    <a:pt x="12" y="547"/>
                  </a:lnTo>
                  <a:lnTo>
                    <a:pt x="0" y="547"/>
                  </a:lnTo>
                  <a:moveTo>
                    <a:pt x="24" y="547"/>
                  </a:moveTo>
                  <a:lnTo>
                    <a:pt x="24" y="21053"/>
                  </a:lnTo>
                  <a:lnTo>
                    <a:pt x="12" y="21053"/>
                  </a:lnTo>
                  <a:lnTo>
                    <a:pt x="24" y="21053"/>
                  </a:lnTo>
                  <a:cubicBezTo>
                    <a:pt x="24" y="21329"/>
                    <a:pt x="139" y="21553"/>
                    <a:pt x="280" y="21553"/>
                  </a:cubicBezTo>
                  <a:lnTo>
                    <a:pt x="21320" y="21553"/>
                  </a:lnTo>
                  <a:cubicBezTo>
                    <a:pt x="21461" y="21553"/>
                    <a:pt x="21576" y="21329"/>
                    <a:pt x="21576" y="21053"/>
                  </a:cubicBezTo>
                  <a:lnTo>
                    <a:pt x="21576" y="547"/>
                  </a:lnTo>
                  <a:cubicBezTo>
                    <a:pt x="21576" y="271"/>
                    <a:pt x="21461" y="47"/>
                    <a:pt x="21320" y="47"/>
                  </a:cubicBezTo>
                  <a:lnTo>
                    <a:pt x="280" y="47"/>
                  </a:lnTo>
                  <a:lnTo>
                    <a:pt x="280" y="23"/>
                  </a:lnTo>
                  <a:lnTo>
                    <a:pt x="280" y="47"/>
                  </a:lnTo>
                  <a:cubicBezTo>
                    <a:pt x="139" y="47"/>
                    <a:pt x="24" y="271"/>
                    <a:pt x="24" y="547"/>
                  </a:cubicBezTo>
                  <a:close/>
                </a:path>
              </a:pathLst>
            </a:custGeom>
            <a:solidFill>
              <a:srgbClr val="BFBFB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225" name="TextBox 11"/>
          <p:cNvSpPr txBox="1"/>
          <p:nvPr/>
        </p:nvSpPr>
        <p:spPr>
          <a:xfrm>
            <a:off x="1632679" y="312314"/>
            <a:ext cx="3657601" cy="412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>
                <a:solidFill>
                  <a:srgbClr val="595959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pPr/>
            <a:r>
              <a:t>AI 헬스케어 초격차 캠프 </a:t>
            </a:r>
          </a:p>
        </p:txBody>
      </p:sp>
      <p:sp>
        <p:nvSpPr>
          <p:cNvPr id="226" name="TextBox 12"/>
          <p:cNvSpPr txBox="1"/>
          <p:nvPr/>
        </p:nvSpPr>
        <p:spPr>
          <a:xfrm>
            <a:off x="582330" y="282263"/>
            <a:ext cx="945680" cy="553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300"/>
              </a:lnSpc>
              <a:defRPr b="1" sz="3600">
                <a:solidFill>
                  <a:srgbClr val="595959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OZ</a:t>
            </a:r>
            <a:r>
              <a:rPr>
                <a:solidFill>
                  <a:srgbClr val="A02B93"/>
                </a:solidFill>
              </a:rPr>
              <a:t>.</a:t>
            </a:r>
          </a:p>
        </p:txBody>
      </p:sp>
      <p:sp>
        <p:nvSpPr>
          <p:cNvPr id="227" name="TextBox 13"/>
          <p:cNvSpPr txBox="1"/>
          <p:nvPr/>
        </p:nvSpPr>
        <p:spPr>
          <a:xfrm>
            <a:off x="3715047" y="8028289"/>
            <a:ext cx="10857907" cy="1290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0000"/>
              </a:lnSpc>
              <a:defRPr b="1" sz="7200">
                <a:solidFill>
                  <a:srgbClr val="444444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defRPr>
            </a:pPr>
            <a:r>
              <a:t>데이터 분석의 시작은 </a:t>
            </a:r>
            <a:r>
              <a:rPr>
                <a:solidFill>
                  <a:srgbClr val="FF3131"/>
                </a:solidFill>
              </a:rPr>
              <a:t>??</a:t>
            </a:r>
            <a:r>
              <a:t>이다</a:t>
            </a:r>
          </a:p>
        </p:txBody>
      </p:sp>
      <p:sp>
        <p:nvSpPr>
          <p:cNvPr id="228" name="TextBox 14"/>
          <p:cNvSpPr txBox="1"/>
          <p:nvPr/>
        </p:nvSpPr>
        <p:spPr>
          <a:xfrm>
            <a:off x="9474292" y="323850"/>
            <a:ext cx="7534502" cy="412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3200"/>
              </a:lnSpc>
              <a:defRPr b="1" sz="2700">
                <a:solidFill>
                  <a:srgbClr val="222222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lvl1pPr>
          </a:lstStyle>
          <a:p>
            <a:pPr/>
            <a:r>
              <a:t>데이터 분석이란</a:t>
            </a:r>
          </a:p>
        </p:txBody>
      </p:sp>
      <p:pic>
        <p:nvPicPr>
          <p:cNvPr id="229" name="이미지" descr="이미지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06406" y="1546326"/>
            <a:ext cx="9144001" cy="62122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Freeform 2"/>
          <p:cNvSpPr/>
          <p:nvPr/>
        </p:nvSpPr>
        <p:spPr>
          <a:xfrm>
            <a:off x="914400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Freeform 3"/>
          <p:cNvSpPr/>
          <p:nvPr/>
        </p:nvSpPr>
        <p:spPr>
          <a:xfrm>
            <a:off x="0" y="-1905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Freeform 4"/>
          <p:cNvSpPr/>
          <p:nvPr/>
        </p:nvSpPr>
        <p:spPr>
          <a:xfrm rot="10800000">
            <a:off x="0" y="514350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6" name="Freeform 5"/>
          <p:cNvSpPr/>
          <p:nvPr/>
        </p:nvSpPr>
        <p:spPr>
          <a:xfrm rot="10800000">
            <a:off x="9117531" y="5143489"/>
            <a:ext cx="9170469" cy="51435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239" name="Group 6"/>
          <p:cNvGrpSpPr/>
          <p:nvPr/>
        </p:nvGrpSpPr>
        <p:grpSpPr>
          <a:xfrm>
            <a:off x="481364" y="1131074"/>
            <a:ext cx="17272351" cy="8840629"/>
            <a:chOff x="0" y="0"/>
            <a:chExt cx="17272350" cy="8840627"/>
          </a:xfrm>
        </p:grpSpPr>
        <p:sp>
          <p:nvSpPr>
            <p:cNvPr id="237" name="Freeform 7"/>
            <p:cNvSpPr/>
            <p:nvPr/>
          </p:nvSpPr>
          <p:spPr>
            <a:xfrm>
              <a:off x="9524" y="9524"/>
              <a:ext cx="17253301" cy="8821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25"/>
                  </a:moveTo>
                  <a:cubicBezTo>
                    <a:pt x="0" y="235"/>
                    <a:pt x="120" y="0"/>
                    <a:pt x="269" y="0"/>
                  </a:cubicBezTo>
                  <a:lnTo>
                    <a:pt x="21331" y="0"/>
                  </a:lnTo>
                  <a:cubicBezTo>
                    <a:pt x="21480" y="0"/>
                    <a:pt x="21600" y="235"/>
                    <a:pt x="21600" y="525"/>
                  </a:cubicBezTo>
                  <a:lnTo>
                    <a:pt x="21600" y="21075"/>
                  </a:lnTo>
                  <a:cubicBezTo>
                    <a:pt x="21600" y="21365"/>
                    <a:pt x="21480" y="21600"/>
                    <a:pt x="21331" y="21600"/>
                  </a:cubicBezTo>
                  <a:lnTo>
                    <a:pt x="269" y="21600"/>
                  </a:lnTo>
                  <a:cubicBezTo>
                    <a:pt x="120" y="21600"/>
                    <a:pt x="0" y="21365"/>
                    <a:pt x="0" y="2107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8" name="Freeform 8"/>
            <p:cNvSpPr/>
            <p:nvPr/>
          </p:nvSpPr>
          <p:spPr>
            <a:xfrm>
              <a:off x="-1" y="-1"/>
              <a:ext cx="17272351" cy="8840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47"/>
                  </a:moveTo>
                  <a:cubicBezTo>
                    <a:pt x="0" y="245"/>
                    <a:pt x="125" y="0"/>
                    <a:pt x="280" y="0"/>
                  </a:cubicBezTo>
                  <a:lnTo>
                    <a:pt x="21320" y="0"/>
                  </a:lnTo>
                  <a:lnTo>
                    <a:pt x="21320" y="23"/>
                  </a:lnTo>
                  <a:lnTo>
                    <a:pt x="21320" y="0"/>
                  </a:lnTo>
                  <a:cubicBezTo>
                    <a:pt x="21475" y="0"/>
                    <a:pt x="21600" y="245"/>
                    <a:pt x="21600" y="547"/>
                  </a:cubicBezTo>
                  <a:lnTo>
                    <a:pt x="21588" y="547"/>
                  </a:lnTo>
                  <a:lnTo>
                    <a:pt x="21600" y="547"/>
                  </a:lnTo>
                  <a:lnTo>
                    <a:pt x="21600" y="21053"/>
                  </a:lnTo>
                  <a:lnTo>
                    <a:pt x="21588" y="21053"/>
                  </a:lnTo>
                  <a:lnTo>
                    <a:pt x="21600" y="21053"/>
                  </a:lnTo>
                  <a:cubicBezTo>
                    <a:pt x="21600" y="21355"/>
                    <a:pt x="21475" y="21600"/>
                    <a:pt x="21320" y="21600"/>
                  </a:cubicBezTo>
                  <a:lnTo>
                    <a:pt x="21320" y="21577"/>
                  </a:lnTo>
                  <a:lnTo>
                    <a:pt x="21320" y="21600"/>
                  </a:lnTo>
                  <a:lnTo>
                    <a:pt x="280" y="21600"/>
                  </a:lnTo>
                  <a:lnTo>
                    <a:pt x="280" y="21577"/>
                  </a:lnTo>
                  <a:lnTo>
                    <a:pt x="280" y="21600"/>
                  </a:lnTo>
                  <a:cubicBezTo>
                    <a:pt x="125" y="21600"/>
                    <a:pt x="0" y="21355"/>
                    <a:pt x="0" y="21053"/>
                  </a:cubicBezTo>
                  <a:lnTo>
                    <a:pt x="0" y="547"/>
                  </a:lnTo>
                  <a:lnTo>
                    <a:pt x="12" y="547"/>
                  </a:lnTo>
                  <a:lnTo>
                    <a:pt x="0" y="547"/>
                  </a:lnTo>
                  <a:moveTo>
                    <a:pt x="24" y="547"/>
                  </a:moveTo>
                  <a:lnTo>
                    <a:pt x="24" y="21053"/>
                  </a:lnTo>
                  <a:lnTo>
                    <a:pt x="12" y="21053"/>
                  </a:lnTo>
                  <a:lnTo>
                    <a:pt x="24" y="21053"/>
                  </a:lnTo>
                  <a:cubicBezTo>
                    <a:pt x="24" y="21329"/>
                    <a:pt x="139" y="21553"/>
                    <a:pt x="280" y="21553"/>
                  </a:cubicBezTo>
                  <a:lnTo>
                    <a:pt x="21320" y="21553"/>
                  </a:lnTo>
                  <a:cubicBezTo>
                    <a:pt x="21461" y="21553"/>
                    <a:pt x="21576" y="21329"/>
                    <a:pt x="21576" y="21053"/>
                  </a:cubicBezTo>
                  <a:lnTo>
                    <a:pt x="21576" y="547"/>
                  </a:lnTo>
                  <a:cubicBezTo>
                    <a:pt x="21576" y="271"/>
                    <a:pt x="21461" y="47"/>
                    <a:pt x="21320" y="47"/>
                  </a:cubicBezTo>
                  <a:lnTo>
                    <a:pt x="280" y="47"/>
                  </a:lnTo>
                  <a:lnTo>
                    <a:pt x="280" y="23"/>
                  </a:lnTo>
                  <a:lnTo>
                    <a:pt x="280" y="47"/>
                  </a:lnTo>
                  <a:cubicBezTo>
                    <a:pt x="139" y="47"/>
                    <a:pt x="24" y="271"/>
                    <a:pt x="24" y="547"/>
                  </a:cubicBezTo>
                  <a:close/>
                </a:path>
              </a:pathLst>
            </a:custGeom>
            <a:solidFill>
              <a:srgbClr val="BFBFB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240" name="TextBox 11"/>
          <p:cNvSpPr txBox="1"/>
          <p:nvPr/>
        </p:nvSpPr>
        <p:spPr>
          <a:xfrm>
            <a:off x="1632679" y="312314"/>
            <a:ext cx="3657601" cy="412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>
                <a:solidFill>
                  <a:srgbClr val="595959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pPr/>
            <a:r>
              <a:t>AI 헬스케어 초격차 캠프 </a:t>
            </a:r>
          </a:p>
        </p:txBody>
      </p:sp>
      <p:sp>
        <p:nvSpPr>
          <p:cNvPr id="241" name="TextBox 12"/>
          <p:cNvSpPr txBox="1"/>
          <p:nvPr/>
        </p:nvSpPr>
        <p:spPr>
          <a:xfrm>
            <a:off x="582330" y="282263"/>
            <a:ext cx="945680" cy="553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300"/>
              </a:lnSpc>
              <a:defRPr b="1" sz="3600">
                <a:solidFill>
                  <a:srgbClr val="595959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OZ</a:t>
            </a:r>
            <a:r>
              <a:rPr>
                <a:solidFill>
                  <a:srgbClr val="A02B93"/>
                </a:solidFill>
              </a:rPr>
              <a:t>.</a:t>
            </a:r>
          </a:p>
        </p:txBody>
      </p:sp>
      <p:sp>
        <p:nvSpPr>
          <p:cNvPr id="242" name="TextBox 13"/>
          <p:cNvSpPr txBox="1"/>
          <p:nvPr/>
        </p:nvSpPr>
        <p:spPr>
          <a:xfrm>
            <a:off x="3392239" y="8028289"/>
            <a:ext cx="11503522" cy="1290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0000"/>
              </a:lnSpc>
              <a:defRPr b="1" sz="7200">
                <a:solidFill>
                  <a:srgbClr val="444444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defRPr>
            </a:pPr>
            <a:r>
              <a:t>데이터 분석의 시작은 </a:t>
            </a:r>
            <a:r>
              <a:rPr>
                <a:solidFill>
                  <a:srgbClr val="FF3131"/>
                </a:solidFill>
              </a:rPr>
              <a:t>뽑기</a:t>
            </a:r>
            <a:r>
              <a:t>이다</a:t>
            </a:r>
          </a:p>
        </p:txBody>
      </p:sp>
      <p:sp>
        <p:nvSpPr>
          <p:cNvPr id="243" name="TextBox 14"/>
          <p:cNvSpPr txBox="1"/>
          <p:nvPr/>
        </p:nvSpPr>
        <p:spPr>
          <a:xfrm>
            <a:off x="9474292" y="323850"/>
            <a:ext cx="7534502" cy="412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3200"/>
              </a:lnSpc>
              <a:defRPr b="1" sz="2700">
                <a:solidFill>
                  <a:srgbClr val="222222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lvl1pPr>
          </a:lstStyle>
          <a:p>
            <a:pPr/>
            <a:r>
              <a:t>데이터 분석이란</a:t>
            </a:r>
          </a:p>
        </p:txBody>
      </p:sp>
      <p:pic>
        <p:nvPicPr>
          <p:cNvPr id="244" name="이미지" descr="이미지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06406" y="1546326"/>
            <a:ext cx="9144001" cy="62122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Freeform 2"/>
          <p:cNvSpPr/>
          <p:nvPr/>
        </p:nvSpPr>
        <p:spPr>
          <a:xfrm>
            <a:off x="914400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Freeform 3"/>
          <p:cNvSpPr/>
          <p:nvPr/>
        </p:nvSpPr>
        <p:spPr>
          <a:xfrm>
            <a:off x="0" y="-1905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Freeform 4"/>
          <p:cNvSpPr/>
          <p:nvPr/>
        </p:nvSpPr>
        <p:spPr>
          <a:xfrm rot="10800000">
            <a:off x="0" y="514350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Freeform 5"/>
          <p:cNvSpPr/>
          <p:nvPr/>
        </p:nvSpPr>
        <p:spPr>
          <a:xfrm rot="10800000">
            <a:off x="9117531" y="5143489"/>
            <a:ext cx="9170469" cy="51435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254" name="Group 6"/>
          <p:cNvGrpSpPr/>
          <p:nvPr/>
        </p:nvGrpSpPr>
        <p:grpSpPr>
          <a:xfrm>
            <a:off x="481364" y="1131074"/>
            <a:ext cx="17272351" cy="8840629"/>
            <a:chOff x="0" y="0"/>
            <a:chExt cx="17272350" cy="8840627"/>
          </a:xfrm>
        </p:grpSpPr>
        <p:sp>
          <p:nvSpPr>
            <p:cNvPr id="252" name="Freeform 7"/>
            <p:cNvSpPr/>
            <p:nvPr/>
          </p:nvSpPr>
          <p:spPr>
            <a:xfrm>
              <a:off x="9524" y="9524"/>
              <a:ext cx="17253301" cy="8821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25"/>
                  </a:moveTo>
                  <a:cubicBezTo>
                    <a:pt x="0" y="235"/>
                    <a:pt x="120" y="0"/>
                    <a:pt x="269" y="0"/>
                  </a:cubicBezTo>
                  <a:lnTo>
                    <a:pt x="21331" y="0"/>
                  </a:lnTo>
                  <a:cubicBezTo>
                    <a:pt x="21480" y="0"/>
                    <a:pt x="21600" y="235"/>
                    <a:pt x="21600" y="525"/>
                  </a:cubicBezTo>
                  <a:lnTo>
                    <a:pt x="21600" y="21075"/>
                  </a:lnTo>
                  <a:cubicBezTo>
                    <a:pt x="21600" y="21365"/>
                    <a:pt x="21480" y="21600"/>
                    <a:pt x="21331" y="21600"/>
                  </a:cubicBezTo>
                  <a:lnTo>
                    <a:pt x="269" y="21600"/>
                  </a:lnTo>
                  <a:cubicBezTo>
                    <a:pt x="120" y="21600"/>
                    <a:pt x="0" y="21365"/>
                    <a:pt x="0" y="2107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3" name="Freeform 8"/>
            <p:cNvSpPr/>
            <p:nvPr/>
          </p:nvSpPr>
          <p:spPr>
            <a:xfrm>
              <a:off x="-1" y="-1"/>
              <a:ext cx="17272351" cy="8840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47"/>
                  </a:moveTo>
                  <a:cubicBezTo>
                    <a:pt x="0" y="245"/>
                    <a:pt x="125" y="0"/>
                    <a:pt x="280" y="0"/>
                  </a:cubicBezTo>
                  <a:lnTo>
                    <a:pt x="21320" y="0"/>
                  </a:lnTo>
                  <a:lnTo>
                    <a:pt x="21320" y="23"/>
                  </a:lnTo>
                  <a:lnTo>
                    <a:pt x="21320" y="0"/>
                  </a:lnTo>
                  <a:cubicBezTo>
                    <a:pt x="21475" y="0"/>
                    <a:pt x="21600" y="245"/>
                    <a:pt x="21600" y="547"/>
                  </a:cubicBezTo>
                  <a:lnTo>
                    <a:pt x="21588" y="547"/>
                  </a:lnTo>
                  <a:lnTo>
                    <a:pt x="21600" y="547"/>
                  </a:lnTo>
                  <a:lnTo>
                    <a:pt x="21600" y="21053"/>
                  </a:lnTo>
                  <a:lnTo>
                    <a:pt x="21588" y="21053"/>
                  </a:lnTo>
                  <a:lnTo>
                    <a:pt x="21600" y="21053"/>
                  </a:lnTo>
                  <a:cubicBezTo>
                    <a:pt x="21600" y="21355"/>
                    <a:pt x="21475" y="21600"/>
                    <a:pt x="21320" y="21600"/>
                  </a:cubicBezTo>
                  <a:lnTo>
                    <a:pt x="21320" y="21577"/>
                  </a:lnTo>
                  <a:lnTo>
                    <a:pt x="21320" y="21600"/>
                  </a:lnTo>
                  <a:lnTo>
                    <a:pt x="280" y="21600"/>
                  </a:lnTo>
                  <a:lnTo>
                    <a:pt x="280" y="21577"/>
                  </a:lnTo>
                  <a:lnTo>
                    <a:pt x="280" y="21600"/>
                  </a:lnTo>
                  <a:cubicBezTo>
                    <a:pt x="125" y="21600"/>
                    <a:pt x="0" y="21355"/>
                    <a:pt x="0" y="21053"/>
                  </a:cubicBezTo>
                  <a:lnTo>
                    <a:pt x="0" y="547"/>
                  </a:lnTo>
                  <a:lnTo>
                    <a:pt x="12" y="547"/>
                  </a:lnTo>
                  <a:lnTo>
                    <a:pt x="0" y="547"/>
                  </a:lnTo>
                  <a:moveTo>
                    <a:pt x="24" y="547"/>
                  </a:moveTo>
                  <a:lnTo>
                    <a:pt x="24" y="21053"/>
                  </a:lnTo>
                  <a:lnTo>
                    <a:pt x="12" y="21053"/>
                  </a:lnTo>
                  <a:lnTo>
                    <a:pt x="24" y="21053"/>
                  </a:lnTo>
                  <a:cubicBezTo>
                    <a:pt x="24" y="21329"/>
                    <a:pt x="139" y="21553"/>
                    <a:pt x="280" y="21553"/>
                  </a:cubicBezTo>
                  <a:lnTo>
                    <a:pt x="21320" y="21553"/>
                  </a:lnTo>
                  <a:cubicBezTo>
                    <a:pt x="21461" y="21553"/>
                    <a:pt x="21576" y="21329"/>
                    <a:pt x="21576" y="21053"/>
                  </a:cubicBezTo>
                  <a:lnTo>
                    <a:pt x="21576" y="547"/>
                  </a:lnTo>
                  <a:cubicBezTo>
                    <a:pt x="21576" y="271"/>
                    <a:pt x="21461" y="47"/>
                    <a:pt x="21320" y="47"/>
                  </a:cubicBezTo>
                  <a:lnTo>
                    <a:pt x="280" y="47"/>
                  </a:lnTo>
                  <a:lnTo>
                    <a:pt x="280" y="23"/>
                  </a:lnTo>
                  <a:lnTo>
                    <a:pt x="280" y="47"/>
                  </a:lnTo>
                  <a:cubicBezTo>
                    <a:pt x="139" y="47"/>
                    <a:pt x="24" y="271"/>
                    <a:pt x="24" y="547"/>
                  </a:cubicBezTo>
                  <a:close/>
                </a:path>
              </a:pathLst>
            </a:custGeom>
            <a:solidFill>
              <a:srgbClr val="BFBFB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255" name="Freeform 10"/>
          <p:cNvSpPr/>
          <p:nvPr/>
        </p:nvSpPr>
        <p:spPr>
          <a:xfrm rot="10800000">
            <a:off x="849242" y="2095979"/>
            <a:ext cx="3208329" cy="3862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6" h="21600" fill="norm" stroke="1" extrusionOk="0">
                <a:moveTo>
                  <a:pt x="20934" y="0"/>
                </a:moveTo>
                <a:lnTo>
                  <a:pt x="41" y="0"/>
                </a:lnTo>
                <a:cubicBezTo>
                  <a:pt x="28" y="0"/>
                  <a:pt x="16" y="47"/>
                  <a:pt x="9" y="129"/>
                </a:cubicBezTo>
                <a:cubicBezTo>
                  <a:pt x="1" y="210"/>
                  <a:pt x="-2" y="316"/>
                  <a:pt x="1" y="417"/>
                </a:cubicBezTo>
                <a:lnTo>
                  <a:pt x="598" y="21183"/>
                </a:lnTo>
                <a:cubicBezTo>
                  <a:pt x="605" y="21428"/>
                  <a:pt x="632" y="21600"/>
                  <a:pt x="662" y="21600"/>
                </a:cubicBezTo>
                <a:lnTo>
                  <a:pt x="21555" y="21600"/>
                </a:lnTo>
                <a:cubicBezTo>
                  <a:pt x="21568" y="21600"/>
                  <a:pt x="21580" y="21553"/>
                  <a:pt x="21587" y="21471"/>
                </a:cubicBezTo>
                <a:cubicBezTo>
                  <a:pt x="21595" y="21390"/>
                  <a:pt x="21598" y="21284"/>
                  <a:pt x="21595" y="21183"/>
                </a:cubicBezTo>
                <a:lnTo>
                  <a:pt x="20998" y="417"/>
                </a:lnTo>
                <a:cubicBezTo>
                  <a:pt x="20991" y="172"/>
                  <a:pt x="20964" y="0"/>
                  <a:pt x="20934" y="0"/>
                </a:cubicBezTo>
                <a:close/>
              </a:path>
            </a:pathLst>
          </a:custGeom>
          <a:solidFill>
            <a:srgbClr val="FFF1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Box 19"/>
          <p:cNvSpPr txBox="1"/>
          <p:nvPr/>
        </p:nvSpPr>
        <p:spPr>
          <a:xfrm>
            <a:off x="1632679" y="312314"/>
            <a:ext cx="3657601" cy="412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>
                <a:solidFill>
                  <a:srgbClr val="595959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pPr/>
            <a:r>
              <a:t>AI 헬스케어 초격차 캠프 </a:t>
            </a:r>
          </a:p>
        </p:txBody>
      </p:sp>
      <p:sp>
        <p:nvSpPr>
          <p:cNvPr id="257" name="TextBox 20"/>
          <p:cNvSpPr txBox="1"/>
          <p:nvPr/>
        </p:nvSpPr>
        <p:spPr>
          <a:xfrm>
            <a:off x="582330" y="282263"/>
            <a:ext cx="945680" cy="553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300"/>
              </a:lnSpc>
              <a:defRPr b="1" sz="3600">
                <a:solidFill>
                  <a:srgbClr val="595959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OZ</a:t>
            </a:r>
            <a:r>
              <a:rPr>
                <a:solidFill>
                  <a:srgbClr val="A02B93"/>
                </a:solidFill>
              </a:rPr>
              <a:t>.</a:t>
            </a:r>
          </a:p>
        </p:txBody>
      </p:sp>
      <p:sp>
        <p:nvSpPr>
          <p:cNvPr id="258" name="TextBox 21"/>
          <p:cNvSpPr txBox="1"/>
          <p:nvPr/>
        </p:nvSpPr>
        <p:spPr>
          <a:xfrm>
            <a:off x="967511" y="1839647"/>
            <a:ext cx="2868365" cy="568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400"/>
              </a:lnSpc>
              <a:defRPr b="1" sz="3200">
                <a:solidFill>
                  <a:srgbClr val="444444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defRPr>
            </a:lvl1pPr>
          </a:lstStyle>
          <a:p>
            <a:pPr/>
            <a:r>
              <a:t>뽑기(Selection)</a:t>
            </a:r>
          </a:p>
        </p:txBody>
      </p:sp>
      <p:sp>
        <p:nvSpPr>
          <p:cNvPr id="259" name="TextBox 22"/>
          <p:cNvSpPr txBox="1"/>
          <p:nvPr/>
        </p:nvSpPr>
        <p:spPr>
          <a:xfrm>
            <a:off x="967510" y="3092537"/>
            <a:ext cx="13805193" cy="406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pc="-115" sz="2500">
                <a:solidFill>
                  <a:srgbClr val="444444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pPr/>
            <a:r>
              <a:t>전체 데이터에서 필요한 부분만 정확히 골라내는 것이 데이터 분석의 핵심입니다.</a:t>
            </a:r>
          </a:p>
        </p:txBody>
      </p:sp>
      <p:sp>
        <p:nvSpPr>
          <p:cNvPr id="260" name="TextBox 23"/>
          <p:cNvSpPr txBox="1"/>
          <p:nvPr/>
        </p:nvSpPr>
        <p:spPr>
          <a:xfrm>
            <a:off x="967510" y="3771146"/>
            <a:ext cx="13805193" cy="81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539754" indent="-269877">
              <a:lnSpc>
                <a:spcPts val="3200"/>
              </a:lnSpc>
              <a:buSzPct val="100000"/>
              <a:buFont typeface="Arial"/>
              <a:buChar char="•"/>
              <a:defRPr spc="-115" sz="2500">
                <a:solidFill>
                  <a:srgbClr val="444444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pPr>
            <a:r>
              <a:t>노이즈 제거: 방대한 데이터 중 분석 목적에 맞는 정보만 추출하여 결과의 왜곡을 방지합니다.</a:t>
            </a:r>
          </a:p>
          <a:p>
            <a:pPr lvl="1" marL="539754" indent="-269877">
              <a:lnSpc>
                <a:spcPts val="3200"/>
              </a:lnSpc>
              <a:buSzPct val="100000"/>
              <a:buFont typeface="Arial"/>
              <a:buChar char="•"/>
              <a:defRPr spc="-115" sz="2500">
                <a:solidFill>
                  <a:srgbClr val="444444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pPr>
            <a:r>
              <a:t>효율성 극대화: 불필요한 연산을 줄여 분석 속도와 모델 학습의 효율을 높입니다.</a:t>
            </a:r>
          </a:p>
        </p:txBody>
      </p:sp>
      <p:sp>
        <p:nvSpPr>
          <p:cNvPr id="261" name="TextBox 24"/>
          <p:cNvSpPr txBox="1"/>
          <p:nvPr/>
        </p:nvSpPr>
        <p:spPr>
          <a:xfrm>
            <a:off x="967510" y="4863346"/>
            <a:ext cx="13805193" cy="406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pc="-115" sz="2500">
                <a:solidFill>
                  <a:srgbClr val="444444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pPr/>
            <a:r>
              <a:t>이 '뽑기' 과정이 잘 이루어져야 이후 진행될 정제(Cleaning)와 인사이트 도출 단계가 원활해집니다.</a:t>
            </a:r>
          </a:p>
        </p:txBody>
      </p:sp>
      <p:sp>
        <p:nvSpPr>
          <p:cNvPr id="262" name="TextBox 28"/>
          <p:cNvSpPr txBox="1"/>
          <p:nvPr/>
        </p:nvSpPr>
        <p:spPr>
          <a:xfrm>
            <a:off x="9474292" y="323850"/>
            <a:ext cx="7534502" cy="412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3200"/>
              </a:lnSpc>
              <a:defRPr b="1" sz="2700">
                <a:solidFill>
                  <a:srgbClr val="222222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lvl1pPr>
          </a:lstStyle>
          <a:p>
            <a:pPr/>
            <a:r>
              <a:t>데이터 분석이란</a:t>
            </a:r>
          </a:p>
        </p:txBody>
      </p:sp>
      <p:pic>
        <p:nvPicPr>
          <p:cNvPr id="263" name="이미지" descr="이미지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19150" y="5819169"/>
            <a:ext cx="16141700" cy="3644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Freeform 2"/>
          <p:cNvSpPr/>
          <p:nvPr/>
        </p:nvSpPr>
        <p:spPr>
          <a:xfrm>
            <a:off x="914400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Freeform 3"/>
          <p:cNvSpPr/>
          <p:nvPr/>
        </p:nvSpPr>
        <p:spPr>
          <a:xfrm>
            <a:off x="0" y="-1905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Freeform 4"/>
          <p:cNvSpPr/>
          <p:nvPr/>
        </p:nvSpPr>
        <p:spPr>
          <a:xfrm rot="10800000">
            <a:off x="0" y="514350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Freeform 5"/>
          <p:cNvSpPr/>
          <p:nvPr/>
        </p:nvSpPr>
        <p:spPr>
          <a:xfrm rot="10800000">
            <a:off x="9117531" y="5143489"/>
            <a:ext cx="9170469" cy="51435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TextBox 6"/>
          <p:cNvSpPr txBox="1"/>
          <p:nvPr/>
        </p:nvSpPr>
        <p:spPr>
          <a:xfrm>
            <a:off x="1632679" y="312314"/>
            <a:ext cx="3657601" cy="412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>
                <a:solidFill>
                  <a:srgbClr val="595959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pPr/>
            <a:r>
              <a:t>AI 헬스케어 초격차 캠프 </a:t>
            </a:r>
          </a:p>
        </p:txBody>
      </p:sp>
      <p:grpSp>
        <p:nvGrpSpPr>
          <p:cNvPr id="274" name="Group 7"/>
          <p:cNvGrpSpPr/>
          <p:nvPr/>
        </p:nvGrpSpPr>
        <p:grpSpPr>
          <a:xfrm>
            <a:off x="481364" y="1131074"/>
            <a:ext cx="17272351" cy="8840629"/>
            <a:chOff x="0" y="0"/>
            <a:chExt cx="17272350" cy="8840627"/>
          </a:xfrm>
        </p:grpSpPr>
        <p:sp>
          <p:nvSpPr>
            <p:cNvPr id="272" name="Freeform 8"/>
            <p:cNvSpPr/>
            <p:nvPr/>
          </p:nvSpPr>
          <p:spPr>
            <a:xfrm>
              <a:off x="9524" y="9524"/>
              <a:ext cx="17253301" cy="8821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25"/>
                  </a:moveTo>
                  <a:cubicBezTo>
                    <a:pt x="0" y="235"/>
                    <a:pt x="120" y="0"/>
                    <a:pt x="269" y="0"/>
                  </a:cubicBezTo>
                  <a:lnTo>
                    <a:pt x="21331" y="0"/>
                  </a:lnTo>
                  <a:cubicBezTo>
                    <a:pt x="21480" y="0"/>
                    <a:pt x="21600" y="235"/>
                    <a:pt x="21600" y="525"/>
                  </a:cubicBezTo>
                  <a:lnTo>
                    <a:pt x="21600" y="21075"/>
                  </a:lnTo>
                  <a:cubicBezTo>
                    <a:pt x="21600" y="21365"/>
                    <a:pt x="21480" y="21600"/>
                    <a:pt x="21331" y="21600"/>
                  </a:cubicBezTo>
                  <a:lnTo>
                    <a:pt x="269" y="21600"/>
                  </a:lnTo>
                  <a:cubicBezTo>
                    <a:pt x="120" y="21600"/>
                    <a:pt x="0" y="21365"/>
                    <a:pt x="0" y="2107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3" name="Freeform 9"/>
            <p:cNvSpPr/>
            <p:nvPr/>
          </p:nvSpPr>
          <p:spPr>
            <a:xfrm>
              <a:off x="-1" y="-1"/>
              <a:ext cx="17272351" cy="8840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47"/>
                  </a:moveTo>
                  <a:cubicBezTo>
                    <a:pt x="0" y="245"/>
                    <a:pt x="125" y="0"/>
                    <a:pt x="280" y="0"/>
                  </a:cubicBezTo>
                  <a:lnTo>
                    <a:pt x="21320" y="0"/>
                  </a:lnTo>
                  <a:lnTo>
                    <a:pt x="21320" y="23"/>
                  </a:lnTo>
                  <a:lnTo>
                    <a:pt x="21320" y="0"/>
                  </a:lnTo>
                  <a:cubicBezTo>
                    <a:pt x="21475" y="0"/>
                    <a:pt x="21600" y="245"/>
                    <a:pt x="21600" y="547"/>
                  </a:cubicBezTo>
                  <a:lnTo>
                    <a:pt x="21588" y="547"/>
                  </a:lnTo>
                  <a:lnTo>
                    <a:pt x="21600" y="547"/>
                  </a:lnTo>
                  <a:lnTo>
                    <a:pt x="21600" y="21053"/>
                  </a:lnTo>
                  <a:lnTo>
                    <a:pt x="21588" y="21053"/>
                  </a:lnTo>
                  <a:lnTo>
                    <a:pt x="21600" y="21053"/>
                  </a:lnTo>
                  <a:cubicBezTo>
                    <a:pt x="21600" y="21355"/>
                    <a:pt x="21475" y="21600"/>
                    <a:pt x="21320" y="21600"/>
                  </a:cubicBezTo>
                  <a:lnTo>
                    <a:pt x="21320" y="21577"/>
                  </a:lnTo>
                  <a:lnTo>
                    <a:pt x="21320" y="21600"/>
                  </a:lnTo>
                  <a:lnTo>
                    <a:pt x="280" y="21600"/>
                  </a:lnTo>
                  <a:lnTo>
                    <a:pt x="280" y="21577"/>
                  </a:lnTo>
                  <a:lnTo>
                    <a:pt x="280" y="21600"/>
                  </a:lnTo>
                  <a:cubicBezTo>
                    <a:pt x="125" y="21600"/>
                    <a:pt x="0" y="21355"/>
                    <a:pt x="0" y="21053"/>
                  </a:cubicBezTo>
                  <a:lnTo>
                    <a:pt x="0" y="547"/>
                  </a:lnTo>
                  <a:lnTo>
                    <a:pt x="12" y="547"/>
                  </a:lnTo>
                  <a:lnTo>
                    <a:pt x="0" y="547"/>
                  </a:lnTo>
                  <a:moveTo>
                    <a:pt x="24" y="547"/>
                  </a:moveTo>
                  <a:lnTo>
                    <a:pt x="24" y="21053"/>
                  </a:lnTo>
                  <a:lnTo>
                    <a:pt x="12" y="21053"/>
                  </a:lnTo>
                  <a:lnTo>
                    <a:pt x="24" y="21053"/>
                  </a:lnTo>
                  <a:cubicBezTo>
                    <a:pt x="24" y="21329"/>
                    <a:pt x="139" y="21553"/>
                    <a:pt x="280" y="21553"/>
                  </a:cubicBezTo>
                  <a:lnTo>
                    <a:pt x="21320" y="21553"/>
                  </a:lnTo>
                  <a:cubicBezTo>
                    <a:pt x="21461" y="21553"/>
                    <a:pt x="21576" y="21329"/>
                    <a:pt x="21576" y="21053"/>
                  </a:cubicBezTo>
                  <a:lnTo>
                    <a:pt x="21576" y="547"/>
                  </a:lnTo>
                  <a:cubicBezTo>
                    <a:pt x="21576" y="271"/>
                    <a:pt x="21461" y="47"/>
                    <a:pt x="21320" y="47"/>
                  </a:cubicBezTo>
                  <a:lnTo>
                    <a:pt x="280" y="47"/>
                  </a:lnTo>
                  <a:lnTo>
                    <a:pt x="280" y="23"/>
                  </a:lnTo>
                  <a:lnTo>
                    <a:pt x="280" y="47"/>
                  </a:lnTo>
                  <a:cubicBezTo>
                    <a:pt x="139" y="47"/>
                    <a:pt x="24" y="271"/>
                    <a:pt x="24" y="547"/>
                  </a:cubicBezTo>
                  <a:close/>
                </a:path>
              </a:pathLst>
            </a:custGeom>
            <a:solidFill>
              <a:srgbClr val="BFBFB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275" name="TextBox 10"/>
          <p:cNvSpPr txBox="1"/>
          <p:nvPr/>
        </p:nvSpPr>
        <p:spPr>
          <a:xfrm>
            <a:off x="582330" y="282263"/>
            <a:ext cx="945680" cy="553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300"/>
              </a:lnSpc>
              <a:defRPr b="1" sz="3600">
                <a:solidFill>
                  <a:srgbClr val="595959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OZ</a:t>
            </a:r>
            <a:r>
              <a:rPr>
                <a:solidFill>
                  <a:srgbClr val="A02B93"/>
                </a:solidFill>
              </a:rPr>
              <a:t>.</a:t>
            </a:r>
          </a:p>
        </p:txBody>
      </p:sp>
      <p:sp>
        <p:nvSpPr>
          <p:cNvPr id="276" name="TextBox 11"/>
          <p:cNvSpPr txBox="1"/>
          <p:nvPr/>
        </p:nvSpPr>
        <p:spPr>
          <a:xfrm>
            <a:off x="4073633" y="4498657"/>
            <a:ext cx="9485414" cy="1534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1500"/>
              </a:lnSpc>
              <a:defRPr b="1" sz="9600">
                <a:solidFill>
                  <a:srgbClr val="40404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defRPr>
            </a:lvl1pPr>
          </a:lstStyle>
          <a:p>
            <a:pPr/>
            <a:r>
              <a:t>데이터 타입의 이해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Freeform 2"/>
          <p:cNvSpPr/>
          <p:nvPr/>
        </p:nvSpPr>
        <p:spPr>
          <a:xfrm>
            <a:off x="914400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Freeform 3"/>
          <p:cNvSpPr/>
          <p:nvPr/>
        </p:nvSpPr>
        <p:spPr>
          <a:xfrm>
            <a:off x="0" y="-1905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2" name="Freeform 4"/>
          <p:cNvSpPr/>
          <p:nvPr/>
        </p:nvSpPr>
        <p:spPr>
          <a:xfrm rot="10800000">
            <a:off x="0" y="514350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3" name="Freeform 5"/>
          <p:cNvSpPr/>
          <p:nvPr/>
        </p:nvSpPr>
        <p:spPr>
          <a:xfrm rot="10800000">
            <a:off x="9117531" y="5143489"/>
            <a:ext cx="9170469" cy="51435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286" name="Group 6"/>
          <p:cNvGrpSpPr/>
          <p:nvPr/>
        </p:nvGrpSpPr>
        <p:grpSpPr>
          <a:xfrm>
            <a:off x="481364" y="1131074"/>
            <a:ext cx="17272351" cy="8840629"/>
            <a:chOff x="0" y="0"/>
            <a:chExt cx="17272350" cy="8840627"/>
          </a:xfrm>
        </p:grpSpPr>
        <p:sp>
          <p:nvSpPr>
            <p:cNvPr id="284" name="Freeform 7"/>
            <p:cNvSpPr/>
            <p:nvPr/>
          </p:nvSpPr>
          <p:spPr>
            <a:xfrm>
              <a:off x="9524" y="9524"/>
              <a:ext cx="17253301" cy="8821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25"/>
                  </a:moveTo>
                  <a:cubicBezTo>
                    <a:pt x="0" y="235"/>
                    <a:pt x="120" y="0"/>
                    <a:pt x="269" y="0"/>
                  </a:cubicBezTo>
                  <a:lnTo>
                    <a:pt x="21331" y="0"/>
                  </a:lnTo>
                  <a:cubicBezTo>
                    <a:pt x="21480" y="0"/>
                    <a:pt x="21600" y="235"/>
                    <a:pt x="21600" y="525"/>
                  </a:cubicBezTo>
                  <a:lnTo>
                    <a:pt x="21600" y="21075"/>
                  </a:lnTo>
                  <a:cubicBezTo>
                    <a:pt x="21600" y="21365"/>
                    <a:pt x="21480" y="21600"/>
                    <a:pt x="21331" y="21600"/>
                  </a:cubicBezTo>
                  <a:lnTo>
                    <a:pt x="269" y="21600"/>
                  </a:lnTo>
                  <a:cubicBezTo>
                    <a:pt x="120" y="21600"/>
                    <a:pt x="0" y="21365"/>
                    <a:pt x="0" y="2107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5" name="Freeform 8"/>
            <p:cNvSpPr/>
            <p:nvPr/>
          </p:nvSpPr>
          <p:spPr>
            <a:xfrm>
              <a:off x="-1" y="-1"/>
              <a:ext cx="17272351" cy="8840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47"/>
                  </a:moveTo>
                  <a:cubicBezTo>
                    <a:pt x="0" y="245"/>
                    <a:pt x="125" y="0"/>
                    <a:pt x="280" y="0"/>
                  </a:cubicBezTo>
                  <a:lnTo>
                    <a:pt x="21320" y="0"/>
                  </a:lnTo>
                  <a:lnTo>
                    <a:pt x="21320" y="23"/>
                  </a:lnTo>
                  <a:lnTo>
                    <a:pt x="21320" y="0"/>
                  </a:lnTo>
                  <a:cubicBezTo>
                    <a:pt x="21475" y="0"/>
                    <a:pt x="21600" y="245"/>
                    <a:pt x="21600" y="547"/>
                  </a:cubicBezTo>
                  <a:lnTo>
                    <a:pt x="21588" y="547"/>
                  </a:lnTo>
                  <a:lnTo>
                    <a:pt x="21600" y="547"/>
                  </a:lnTo>
                  <a:lnTo>
                    <a:pt x="21600" y="21053"/>
                  </a:lnTo>
                  <a:lnTo>
                    <a:pt x="21588" y="21053"/>
                  </a:lnTo>
                  <a:lnTo>
                    <a:pt x="21600" y="21053"/>
                  </a:lnTo>
                  <a:cubicBezTo>
                    <a:pt x="21600" y="21355"/>
                    <a:pt x="21475" y="21600"/>
                    <a:pt x="21320" y="21600"/>
                  </a:cubicBezTo>
                  <a:lnTo>
                    <a:pt x="21320" y="21577"/>
                  </a:lnTo>
                  <a:lnTo>
                    <a:pt x="21320" y="21600"/>
                  </a:lnTo>
                  <a:lnTo>
                    <a:pt x="280" y="21600"/>
                  </a:lnTo>
                  <a:lnTo>
                    <a:pt x="280" y="21577"/>
                  </a:lnTo>
                  <a:lnTo>
                    <a:pt x="280" y="21600"/>
                  </a:lnTo>
                  <a:cubicBezTo>
                    <a:pt x="125" y="21600"/>
                    <a:pt x="0" y="21355"/>
                    <a:pt x="0" y="21053"/>
                  </a:cubicBezTo>
                  <a:lnTo>
                    <a:pt x="0" y="547"/>
                  </a:lnTo>
                  <a:lnTo>
                    <a:pt x="12" y="547"/>
                  </a:lnTo>
                  <a:lnTo>
                    <a:pt x="0" y="547"/>
                  </a:lnTo>
                  <a:moveTo>
                    <a:pt x="24" y="547"/>
                  </a:moveTo>
                  <a:lnTo>
                    <a:pt x="24" y="21053"/>
                  </a:lnTo>
                  <a:lnTo>
                    <a:pt x="12" y="21053"/>
                  </a:lnTo>
                  <a:lnTo>
                    <a:pt x="24" y="21053"/>
                  </a:lnTo>
                  <a:cubicBezTo>
                    <a:pt x="24" y="21329"/>
                    <a:pt x="139" y="21553"/>
                    <a:pt x="280" y="21553"/>
                  </a:cubicBezTo>
                  <a:lnTo>
                    <a:pt x="21320" y="21553"/>
                  </a:lnTo>
                  <a:cubicBezTo>
                    <a:pt x="21461" y="21553"/>
                    <a:pt x="21576" y="21329"/>
                    <a:pt x="21576" y="21053"/>
                  </a:cubicBezTo>
                  <a:lnTo>
                    <a:pt x="21576" y="547"/>
                  </a:lnTo>
                  <a:cubicBezTo>
                    <a:pt x="21576" y="271"/>
                    <a:pt x="21461" y="47"/>
                    <a:pt x="21320" y="47"/>
                  </a:cubicBezTo>
                  <a:lnTo>
                    <a:pt x="280" y="47"/>
                  </a:lnTo>
                  <a:lnTo>
                    <a:pt x="280" y="23"/>
                  </a:lnTo>
                  <a:lnTo>
                    <a:pt x="280" y="47"/>
                  </a:lnTo>
                  <a:cubicBezTo>
                    <a:pt x="139" y="47"/>
                    <a:pt x="24" y="271"/>
                    <a:pt x="24" y="547"/>
                  </a:cubicBezTo>
                  <a:close/>
                </a:path>
              </a:pathLst>
            </a:custGeom>
            <a:solidFill>
              <a:srgbClr val="BFBFB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287" name="Freeform 10"/>
          <p:cNvSpPr/>
          <p:nvPr/>
        </p:nvSpPr>
        <p:spPr>
          <a:xfrm>
            <a:off x="1055170" y="2346424"/>
            <a:ext cx="9150666" cy="62697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38" y="0"/>
                </a:moveTo>
                <a:lnTo>
                  <a:pt x="21162" y="0"/>
                </a:lnTo>
                <a:cubicBezTo>
                  <a:pt x="21278" y="0"/>
                  <a:pt x="21389" y="67"/>
                  <a:pt x="21472" y="187"/>
                </a:cubicBezTo>
                <a:cubicBezTo>
                  <a:pt x="21554" y="307"/>
                  <a:pt x="21600" y="470"/>
                  <a:pt x="21600" y="640"/>
                </a:cubicBezTo>
                <a:lnTo>
                  <a:pt x="21600" y="20960"/>
                </a:lnTo>
                <a:cubicBezTo>
                  <a:pt x="21600" y="21314"/>
                  <a:pt x="21404" y="21600"/>
                  <a:pt x="21162" y="21600"/>
                </a:cubicBezTo>
                <a:lnTo>
                  <a:pt x="438" y="21600"/>
                </a:lnTo>
                <a:cubicBezTo>
                  <a:pt x="322" y="21600"/>
                  <a:pt x="211" y="21533"/>
                  <a:pt x="128" y="21413"/>
                </a:cubicBezTo>
                <a:cubicBezTo>
                  <a:pt x="46" y="21293"/>
                  <a:pt x="0" y="21130"/>
                  <a:pt x="0" y="20960"/>
                </a:cubicBezTo>
                <a:lnTo>
                  <a:pt x="0" y="640"/>
                </a:lnTo>
                <a:cubicBezTo>
                  <a:pt x="0" y="470"/>
                  <a:pt x="46" y="307"/>
                  <a:pt x="128" y="187"/>
                </a:cubicBezTo>
                <a:cubicBezTo>
                  <a:pt x="211" y="67"/>
                  <a:pt x="322" y="0"/>
                  <a:pt x="438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8" name="Freeform 12"/>
          <p:cNvSpPr/>
          <p:nvPr/>
        </p:nvSpPr>
        <p:spPr>
          <a:xfrm rot="10800000">
            <a:off x="10495647" y="4288757"/>
            <a:ext cx="3653104" cy="3862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7" h="21600" fill="norm" stroke="1" extrusionOk="0">
                <a:moveTo>
                  <a:pt x="21020" y="0"/>
                </a:moveTo>
                <a:lnTo>
                  <a:pt x="32" y="0"/>
                </a:lnTo>
                <a:cubicBezTo>
                  <a:pt x="22" y="0"/>
                  <a:pt x="13" y="42"/>
                  <a:pt x="7" y="113"/>
                </a:cubicBezTo>
                <a:cubicBezTo>
                  <a:pt x="1" y="184"/>
                  <a:pt x="-1" y="278"/>
                  <a:pt x="1" y="366"/>
                </a:cubicBezTo>
                <a:lnTo>
                  <a:pt x="529" y="21234"/>
                </a:lnTo>
                <a:cubicBezTo>
                  <a:pt x="534" y="21448"/>
                  <a:pt x="554" y="21600"/>
                  <a:pt x="578" y="21600"/>
                </a:cubicBezTo>
                <a:lnTo>
                  <a:pt x="21566" y="21600"/>
                </a:lnTo>
                <a:cubicBezTo>
                  <a:pt x="21576" y="21600"/>
                  <a:pt x="21585" y="21558"/>
                  <a:pt x="21591" y="21487"/>
                </a:cubicBezTo>
                <a:cubicBezTo>
                  <a:pt x="21597" y="21415"/>
                  <a:pt x="21599" y="21322"/>
                  <a:pt x="21597" y="21234"/>
                </a:cubicBezTo>
                <a:lnTo>
                  <a:pt x="21069" y="366"/>
                </a:lnTo>
                <a:cubicBezTo>
                  <a:pt x="21064" y="152"/>
                  <a:pt x="21044" y="0"/>
                  <a:pt x="21020" y="0"/>
                </a:cubicBezTo>
                <a:close/>
              </a:path>
            </a:pathLst>
          </a:custGeom>
          <a:solidFill>
            <a:srgbClr val="FFF1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9" name="TextBox 14"/>
          <p:cNvSpPr txBox="1"/>
          <p:nvPr/>
        </p:nvSpPr>
        <p:spPr>
          <a:xfrm>
            <a:off x="1632679" y="312314"/>
            <a:ext cx="3657601" cy="412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>
                <a:solidFill>
                  <a:srgbClr val="595959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pPr/>
            <a:r>
              <a:t>AI 헬스케어 초격차 캠프 </a:t>
            </a:r>
          </a:p>
        </p:txBody>
      </p:sp>
      <p:sp>
        <p:nvSpPr>
          <p:cNvPr id="290" name="TextBox 15"/>
          <p:cNvSpPr txBox="1"/>
          <p:nvPr/>
        </p:nvSpPr>
        <p:spPr>
          <a:xfrm>
            <a:off x="582330" y="282263"/>
            <a:ext cx="945680" cy="553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300"/>
              </a:lnSpc>
              <a:defRPr b="1" sz="3600">
                <a:solidFill>
                  <a:srgbClr val="595959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OZ</a:t>
            </a:r>
            <a:r>
              <a:rPr>
                <a:solidFill>
                  <a:srgbClr val="A02B93"/>
                </a:solidFill>
              </a:rPr>
              <a:t>.</a:t>
            </a:r>
          </a:p>
        </p:txBody>
      </p:sp>
      <p:sp>
        <p:nvSpPr>
          <p:cNvPr id="291" name="TextBox 16"/>
          <p:cNvSpPr txBox="1"/>
          <p:nvPr/>
        </p:nvSpPr>
        <p:spPr>
          <a:xfrm>
            <a:off x="10699838" y="4032425"/>
            <a:ext cx="3161408" cy="568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400"/>
              </a:lnSpc>
              <a:defRPr b="1" sz="3200">
                <a:solidFill>
                  <a:srgbClr val="444444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defRPr>
            </a:lvl1pPr>
          </a:lstStyle>
          <a:p>
            <a:pPr/>
            <a:r>
              <a:t>데이터 타입의 이해</a:t>
            </a:r>
          </a:p>
        </p:txBody>
      </p:sp>
      <p:sp>
        <p:nvSpPr>
          <p:cNvPr id="292" name="TextBox 17"/>
          <p:cNvSpPr txBox="1"/>
          <p:nvPr/>
        </p:nvSpPr>
        <p:spPr>
          <a:xfrm>
            <a:off x="10699838" y="5285314"/>
            <a:ext cx="6517767" cy="406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pc="-115" sz="2500">
                <a:solidFill>
                  <a:srgbClr val="444444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lvl1pPr>
          </a:lstStyle>
          <a:p>
            <a:pPr/>
            <a:r>
              <a:t>분석의 기초가 되는 핵심 개념</a:t>
            </a:r>
          </a:p>
        </p:txBody>
      </p:sp>
      <p:sp>
        <p:nvSpPr>
          <p:cNvPr id="293" name="TextBox 18"/>
          <p:cNvSpPr txBox="1"/>
          <p:nvPr/>
        </p:nvSpPr>
        <p:spPr>
          <a:xfrm>
            <a:off x="10699838" y="6046935"/>
            <a:ext cx="6644511" cy="2438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200"/>
              </a:lnSpc>
              <a:defRPr spc="-115" sz="2500">
                <a:solidFill>
                  <a:srgbClr val="444444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pPr>
            <a:r>
              <a:t>데이터 분석 과정에서 가장 기본이 되는 것은 다루고</a:t>
            </a:r>
          </a:p>
          <a:p>
            <a:pPr>
              <a:lnSpc>
                <a:spcPts val="3200"/>
              </a:lnSpc>
              <a:defRPr spc="-115" sz="2500">
                <a:solidFill>
                  <a:srgbClr val="444444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pPr>
            <a:r>
              <a:t>있는 </a:t>
            </a:r>
            <a:r>
              <a:rPr b="1"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데이터의 성격을 정확히 이해하는 것</a:t>
            </a:r>
            <a:r>
              <a:t>입니다.</a:t>
            </a:r>
          </a:p>
          <a:p>
            <a:pPr>
              <a:lnSpc>
                <a:spcPts val="3200"/>
              </a:lnSpc>
            </a:pPr>
          </a:p>
          <a:p>
            <a:pPr>
              <a:lnSpc>
                <a:spcPts val="3200"/>
              </a:lnSpc>
              <a:defRPr spc="-115" sz="2500">
                <a:solidFill>
                  <a:srgbClr val="444444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pPr>
            <a:r>
              <a:t>데이터 타입에 따라 적절한 분석 방법과 시각화 기법이 달라지므로, 올바른 데이터 타입 분류는 성공적인 분석의 핵심입니다.</a:t>
            </a:r>
          </a:p>
        </p:txBody>
      </p:sp>
      <p:sp>
        <p:nvSpPr>
          <p:cNvPr id="294" name="TextBox 19"/>
          <p:cNvSpPr txBox="1"/>
          <p:nvPr/>
        </p:nvSpPr>
        <p:spPr>
          <a:xfrm>
            <a:off x="9474292" y="323850"/>
            <a:ext cx="7534502" cy="412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3200"/>
              </a:lnSpc>
              <a:defRPr b="1" sz="2700">
                <a:solidFill>
                  <a:srgbClr val="222222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lvl1pPr>
          </a:lstStyle>
          <a:p>
            <a:pPr/>
            <a:r>
              <a:t>데이터 타입의 이해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Freeform 2"/>
          <p:cNvSpPr/>
          <p:nvPr/>
        </p:nvSpPr>
        <p:spPr>
          <a:xfrm>
            <a:off x="914400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Freeform 3"/>
          <p:cNvSpPr/>
          <p:nvPr/>
        </p:nvSpPr>
        <p:spPr>
          <a:xfrm>
            <a:off x="0" y="-1905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0" name="Freeform 4"/>
          <p:cNvSpPr/>
          <p:nvPr/>
        </p:nvSpPr>
        <p:spPr>
          <a:xfrm rot="10800000">
            <a:off x="0" y="514350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1" name="Freeform 5"/>
          <p:cNvSpPr/>
          <p:nvPr/>
        </p:nvSpPr>
        <p:spPr>
          <a:xfrm rot="10800000">
            <a:off x="9117531" y="5143489"/>
            <a:ext cx="9170469" cy="51435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304" name="Group 6"/>
          <p:cNvGrpSpPr/>
          <p:nvPr/>
        </p:nvGrpSpPr>
        <p:grpSpPr>
          <a:xfrm>
            <a:off x="481364" y="1131074"/>
            <a:ext cx="17272351" cy="8840629"/>
            <a:chOff x="0" y="0"/>
            <a:chExt cx="17272350" cy="8840627"/>
          </a:xfrm>
        </p:grpSpPr>
        <p:sp>
          <p:nvSpPr>
            <p:cNvPr id="302" name="Freeform 7"/>
            <p:cNvSpPr/>
            <p:nvPr/>
          </p:nvSpPr>
          <p:spPr>
            <a:xfrm>
              <a:off x="9524" y="9524"/>
              <a:ext cx="17253301" cy="8821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25"/>
                  </a:moveTo>
                  <a:cubicBezTo>
                    <a:pt x="0" y="235"/>
                    <a:pt x="120" y="0"/>
                    <a:pt x="269" y="0"/>
                  </a:cubicBezTo>
                  <a:lnTo>
                    <a:pt x="21331" y="0"/>
                  </a:lnTo>
                  <a:cubicBezTo>
                    <a:pt x="21480" y="0"/>
                    <a:pt x="21600" y="235"/>
                    <a:pt x="21600" y="525"/>
                  </a:cubicBezTo>
                  <a:lnTo>
                    <a:pt x="21600" y="21075"/>
                  </a:lnTo>
                  <a:cubicBezTo>
                    <a:pt x="21600" y="21365"/>
                    <a:pt x="21480" y="21600"/>
                    <a:pt x="21331" y="21600"/>
                  </a:cubicBezTo>
                  <a:lnTo>
                    <a:pt x="269" y="21600"/>
                  </a:lnTo>
                  <a:cubicBezTo>
                    <a:pt x="120" y="21600"/>
                    <a:pt x="0" y="21365"/>
                    <a:pt x="0" y="2107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3" name="Freeform 8"/>
            <p:cNvSpPr/>
            <p:nvPr/>
          </p:nvSpPr>
          <p:spPr>
            <a:xfrm>
              <a:off x="-1" y="-1"/>
              <a:ext cx="17272351" cy="8840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47"/>
                  </a:moveTo>
                  <a:cubicBezTo>
                    <a:pt x="0" y="245"/>
                    <a:pt x="125" y="0"/>
                    <a:pt x="280" y="0"/>
                  </a:cubicBezTo>
                  <a:lnTo>
                    <a:pt x="21320" y="0"/>
                  </a:lnTo>
                  <a:lnTo>
                    <a:pt x="21320" y="23"/>
                  </a:lnTo>
                  <a:lnTo>
                    <a:pt x="21320" y="0"/>
                  </a:lnTo>
                  <a:cubicBezTo>
                    <a:pt x="21475" y="0"/>
                    <a:pt x="21600" y="245"/>
                    <a:pt x="21600" y="547"/>
                  </a:cubicBezTo>
                  <a:lnTo>
                    <a:pt x="21588" y="547"/>
                  </a:lnTo>
                  <a:lnTo>
                    <a:pt x="21600" y="547"/>
                  </a:lnTo>
                  <a:lnTo>
                    <a:pt x="21600" y="21053"/>
                  </a:lnTo>
                  <a:lnTo>
                    <a:pt x="21588" y="21053"/>
                  </a:lnTo>
                  <a:lnTo>
                    <a:pt x="21600" y="21053"/>
                  </a:lnTo>
                  <a:cubicBezTo>
                    <a:pt x="21600" y="21355"/>
                    <a:pt x="21475" y="21600"/>
                    <a:pt x="21320" y="21600"/>
                  </a:cubicBezTo>
                  <a:lnTo>
                    <a:pt x="21320" y="21577"/>
                  </a:lnTo>
                  <a:lnTo>
                    <a:pt x="21320" y="21600"/>
                  </a:lnTo>
                  <a:lnTo>
                    <a:pt x="280" y="21600"/>
                  </a:lnTo>
                  <a:lnTo>
                    <a:pt x="280" y="21577"/>
                  </a:lnTo>
                  <a:lnTo>
                    <a:pt x="280" y="21600"/>
                  </a:lnTo>
                  <a:cubicBezTo>
                    <a:pt x="125" y="21600"/>
                    <a:pt x="0" y="21355"/>
                    <a:pt x="0" y="21053"/>
                  </a:cubicBezTo>
                  <a:lnTo>
                    <a:pt x="0" y="547"/>
                  </a:lnTo>
                  <a:lnTo>
                    <a:pt x="12" y="547"/>
                  </a:lnTo>
                  <a:lnTo>
                    <a:pt x="0" y="547"/>
                  </a:lnTo>
                  <a:moveTo>
                    <a:pt x="24" y="547"/>
                  </a:moveTo>
                  <a:lnTo>
                    <a:pt x="24" y="21053"/>
                  </a:lnTo>
                  <a:lnTo>
                    <a:pt x="12" y="21053"/>
                  </a:lnTo>
                  <a:lnTo>
                    <a:pt x="24" y="21053"/>
                  </a:lnTo>
                  <a:cubicBezTo>
                    <a:pt x="24" y="21329"/>
                    <a:pt x="139" y="21553"/>
                    <a:pt x="280" y="21553"/>
                  </a:cubicBezTo>
                  <a:lnTo>
                    <a:pt x="21320" y="21553"/>
                  </a:lnTo>
                  <a:cubicBezTo>
                    <a:pt x="21461" y="21553"/>
                    <a:pt x="21576" y="21329"/>
                    <a:pt x="21576" y="21053"/>
                  </a:cubicBezTo>
                  <a:lnTo>
                    <a:pt x="21576" y="547"/>
                  </a:lnTo>
                  <a:cubicBezTo>
                    <a:pt x="21576" y="271"/>
                    <a:pt x="21461" y="47"/>
                    <a:pt x="21320" y="47"/>
                  </a:cubicBezTo>
                  <a:lnTo>
                    <a:pt x="280" y="47"/>
                  </a:lnTo>
                  <a:lnTo>
                    <a:pt x="280" y="23"/>
                  </a:lnTo>
                  <a:lnTo>
                    <a:pt x="280" y="47"/>
                  </a:lnTo>
                  <a:cubicBezTo>
                    <a:pt x="139" y="47"/>
                    <a:pt x="24" y="271"/>
                    <a:pt x="24" y="547"/>
                  </a:cubicBezTo>
                  <a:close/>
                </a:path>
              </a:pathLst>
            </a:custGeom>
            <a:solidFill>
              <a:srgbClr val="BFBFB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05" name="TextBox 9"/>
          <p:cNvSpPr txBox="1"/>
          <p:nvPr/>
        </p:nvSpPr>
        <p:spPr>
          <a:xfrm>
            <a:off x="1632679" y="312314"/>
            <a:ext cx="3657601" cy="412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>
                <a:solidFill>
                  <a:srgbClr val="595959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pPr/>
            <a:r>
              <a:t>AI 헬스케어 초격차 캠프 </a:t>
            </a:r>
          </a:p>
        </p:txBody>
      </p:sp>
      <p:sp>
        <p:nvSpPr>
          <p:cNvPr id="306" name="TextBox 10"/>
          <p:cNvSpPr txBox="1"/>
          <p:nvPr/>
        </p:nvSpPr>
        <p:spPr>
          <a:xfrm>
            <a:off x="582330" y="282263"/>
            <a:ext cx="945680" cy="553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300"/>
              </a:lnSpc>
              <a:defRPr b="1" sz="3600">
                <a:solidFill>
                  <a:srgbClr val="595959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OZ</a:t>
            </a:r>
            <a:r>
              <a:rPr>
                <a:solidFill>
                  <a:srgbClr val="A02B93"/>
                </a:solidFill>
              </a:rPr>
              <a:t>.</a:t>
            </a:r>
          </a:p>
        </p:txBody>
      </p:sp>
      <p:sp>
        <p:nvSpPr>
          <p:cNvPr id="307" name="TextBox 11"/>
          <p:cNvSpPr txBox="1"/>
          <p:nvPr/>
        </p:nvSpPr>
        <p:spPr>
          <a:xfrm>
            <a:off x="9474292" y="323850"/>
            <a:ext cx="7534502" cy="412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3200"/>
              </a:lnSpc>
              <a:defRPr b="1" sz="2700">
                <a:solidFill>
                  <a:srgbClr val="222222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lvl1pPr>
          </a:lstStyle>
          <a:p>
            <a:pPr/>
            <a:r>
              <a:t>데이터 타입의 이해</a:t>
            </a:r>
          </a:p>
        </p:txBody>
      </p:sp>
      <p:sp>
        <p:nvSpPr>
          <p:cNvPr id="308" name="TextBox 12"/>
          <p:cNvSpPr txBox="1"/>
          <p:nvPr/>
        </p:nvSpPr>
        <p:spPr>
          <a:xfrm>
            <a:off x="5939432" y="5484514"/>
            <a:ext cx="6409135" cy="1290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0000"/>
              </a:lnSpc>
              <a:defRPr b="1" sz="7200">
                <a:solidFill>
                  <a:srgbClr val="444444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defRPr>
            </a:lvl1pPr>
          </a:lstStyle>
          <a:p>
            <a:pPr/>
            <a:r>
              <a:t>숫자형 vs 범주형</a:t>
            </a:r>
          </a:p>
        </p:txBody>
      </p:sp>
      <p:sp>
        <p:nvSpPr>
          <p:cNvPr id="309" name="TextBox 13"/>
          <p:cNvSpPr txBox="1"/>
          <p:nvPr/>
        </p:nvSpPr>
        <p:spPr>
          <a:xfrm>
            <a:off x="8382000" y="3299440"/>
            <a:ext cx="1524000" cy="2183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800"/>
              </a:lnSpc>
              <a:defRPr sz="12000">
                <a:solidFill>
                  <a:srgbClr val="444444"/>
                </a:solidFill>
                <a:latin typeface="210 네버랜드 Light"/>
                <a:ea typeface="210 네버랜드 Light"/>
                <a:cs typeface="210 네버랜드 Light"/>
                <a:sym typeface="210 네버랜드 Light"/>
              </a:defRPr>
            </a:lvl1pPr>
          </a:lstStyle>
          <a:p>
            <a:pPr/>
            <a:r>
              <a:t>💻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Freeform 2"/>
          <p:cNvSpPr/>
          <p:nvPr/>
        </p:nvSpPr>
        <p:spPr>
          <a:xfrm>
            <a:off x="914400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4" name="Freeform 3"/>
          <p:cNvSpPr/>
          <p:nvPr/>
        </p:nvSpPr>
        <p:spPr>
          <a:xfrm>
            <a:off x="0" y="-1905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5" name="Freeform 4"/>
          <p:cNvSpPr/>
          <p:nvPr/>
        </p:nvSpPr>
        <p:spPr>
          <a:xfrm rot="10800000">
            <a:off x="0" y="514350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6" name="Freeform 5"/>
          <p:cNvSpPr/>
          <p:nvPr/>
        </p:nvSpPr>
        <p:spPr>
          <a:xfrm rot="10800000">
            <a:off x="9117531" y="5143489"/>
            <a:ext cx="9170469" cy="51435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7" name="TextBox 6"/>
          <p:cNvSpPr txBox="1"/>
          <p:nvPr/>
        </p:nvSpPr>
        <p:spPr>
          <a:xfrm>
            <a:off x="1632679" y="312314"/>
            <a:ext cx="3657601" cy="412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>
                <a:solidFill>
                  <a:srgbClr val="595959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pPr/>
            <a:r>
              <a:t>AI 헬스케어 초격차 캠프 </a:t>
            </a:r>
          </a:p>
        </p:txBody>
      </p:sp>
      <p:grpSp>
        <p:nvGrpSpPr>
          <p:cNvPr id="320" name="Group 7"/>
          <p:cNvGrpSpPr/>
          <p:nvPr/>
        </p:nvGrpSpPr>
        <p:grpSpPr>
          <a:xfrm>
            <a:off x="481364" y="1131074"/>
            <a:ext cx="17272351" cy="8840629"/>
            <a:chOff x="0" y="0"/>
            <a:chExt cx="17272350" cy="8840627"/>
          </a:xfrm>
        </p:grpSpPr>
        <p:sp>
          <p:nvSpPr>
            <p:cNvPr id="318" name="Freeform 8"/>
            <p:cNvSpPr/>
            <p:nvPr/>
          </p:nvSpPr>
          <p:spPr>
            <a:xfrm>
              <a:off x="9524" y="9524"/>
              <a:ext cx="17253301" cy="8821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25"/>
                  </a:moveTo>
                  <a:cubicBezTo>
                    <a:pt x="0" y="235"/>
                    <a:pt x="120" y="0"/>
                    <a:pt x="269" y="0"/>
                  </a:cubicBezTo>
                  <a:lnTo>
                    <a:pt x="21331" y="0"/>
                  </a:lnTo>
                  <a:cubicBezTo>
                    <a:pt x="21480" y="0"/>
                    <a:pt x="21600" y="235"/>
                    <a:pt x="21600" y="525"/>
                  </a:cubicBezTo>
                  <a:lnTo>
                    <a:pt x="21600" y="21075"/>
                  </a:lnTo>
                  <a:cubicBezTo>
                    <a:pt x="21600" y="21365"/>
                    <a:pt x="21480" y="21600"/>
                    <a:pt x="21331" y="21600"/>
                  </a:cubicBezTo>
                  <a:lnTo>
                    <a:pt x="269" y="21600"/>
                  </a:lnTo>
                  <a:cubicBezTo>
                    <a:pt x="120" y="21600"/>
                    <a:pt x="0" y="21365"/>
                    <a:pt x="0" y="2107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9" name="Freeform 9"/>
            <p:cNvSpPr/>
            <p:nvPr/>
          </p:nvSpPr>
          <p:spPr>
            <a:xfrm>
              <a:off x="-1" y="-1"/>
              <a:ext cx="17272351" cy="8840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47"/>
                  </a:moveTo>
                  <a:cubicBezTo>
                    <a:pt x="0" y="245"/>
                    <a:pt x="125" y="0"/>
                    <a:pt x="280" y="0"/>
                  </a:cubicBezTo>
                  <a:lnTo>
                    <a:pt x="21320" y="0"/>
                  </a:lnTo>
                  <a:lnTo>
                    <a:pt x="21320" y="23"/>
                  </a:lnTo>
                  <a:lnTo>
                    <a:pt x="21320" y="0"/>
                  </a:lnTo>
                  <a:cubicBezTo>
                    <a:pt x="21475" y="0"/>
                    <a:pt x="21600" y="245"/>
                    <a:pt x="21600" y="547"/>
                  </a:cubicBezTo>
                  <a:lnTo>
                    <a:pt x="21588" y="547"/>
                  </a:lnTo>
                  <a:lnTo>
                    <a:pt x="21600" y="547"/>
                  </a:lnTo>
                  <a:lnTo>
                    <a:pt x="21600" y="21053"/>
                  </a:lnTo>
                  <a:lnTo>
                    <a:pt x="21588" y="21053"/>
                  </a:lnTo>
                  <a:lnTo>
                    <a:pt x="21600" y="21053"/>
                  </a:lnTo>
                  <a:cubicBezTo>
                    <a:pt x="21600" y="21355"/>
                    <a:pt x="21475" y="21600"/>
                    <a:pt x="21320" y="21600"/>
                  </a:cubicBezTo>
                  <a:lnTo>
                    <a:pt x="21320" y="21577"/>
                  </a:lnTo>
                  <a:lnTo>
                    <a:pt x="21320" y="21600"/>
                  </a:lnTo>
                  <a:lnTo>
                    <a:pt x="280" y="21600"/>
                  </a:lnTo>
                  <a:lnTo>
                    <a:pt x="280" y="21577"/>
                  </a:lnTo>
                  <a:lnTo>
                    <a:pt x="280" y="21600"/>
                  </a:lnTo>
                  <a:cubicBezTo>
                    <a:pt x="125" y="21600"/>
                    <a:pt x="0" y="21355"/>
                    <a:pt x="0" y="21053"/>
                  </a:cubicBezTo>
                  <a:lnTo>
                    <a:pt x="0" y="547"/>
                  </a:lnTo>
                  <a:lnTo>
                    <a:pt x="12" y="547"/>
                  </a:lnTo>
                  <a:lnTo>
                    <a:pt x="0" y="547"/>
                  </a:lnTo>
                  <a:moveTo>
                    <a:pt x="24" y="547"/>
                  </a:moveTo>
                  <a:lnTo>
                    <a:pt x="24" y="21053"/>
                  </a:lnTo>
                  <a:lnTo>
                    <a:pt x="12" y="21053"/>
                  </a:lnTo>
                  <a:lnTo>
                    <a:pt x="24" y="21053"/>
                  </a:lnTo>
                  <a:cubicBezTo>
                    <a:pt x="24" y="21329"/>
                    <a:pt x="139" y="21553"/>
                    <a:pt x="280" y="21553"/>
                  </a:cubicBezTo>
                  <a:lnTo>
                    <a:pt x="21320" y="21553"/>
                  </a:lnTo>
                  <a:cubicBezTo>
                    <a:pt x="21461" y="21553"/>
                    <a:pt x="21576" y="21329"/>
                    <a:pt x="21576" y="21053"/>
                  </a:cubicBezTo>
                  <a:lnTo>
                    <a:pt x="21576" y="547"/>
                  </a:lnTo>
                  <a:cubicBezTo>
                    <a:pt x="21576" y="271"/>
                    <a:pt x="21461" y="47"/>
                    <a:pt x="21320" y="47"/>
                  </a:cubicBezTo>
                  <a:lnTo>
                    <a:pt x="280" y="47"/>
                  </a:lnTo>
                  <a:lnTo>
                    <a:pt x="280" y="23"/>
                  </a:lnTo>
                  <a:lnTo>
                    <a:pt x="280" y="47"/>
                  </a:lnTo>
                  <a:cubicBezTo>
                    <a:pt x="139" y="47"/>
                    <a:pt x="24" y="271"/>
                    <a:pt x="24" y="547"/>
                  </a:cubicBezTo>
                  <a:close/>
                </a:path>
              </a:pathLst>
            </a:custGeom>
            <a:solidFill>
              <a:srgbClr val="BFBFB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21" name="TextBox 10"/>
          <p:cNvSpPr txBox="1"/>
          <p:nvPr/>
        </p:nvSpPr>
        <p:spPr>
          <a:xfrm>
            <a:off x="582330" y="282263"/>
            <a:ext cx="945680" cy="553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300"/>
              </a:lnSpc>
              <a:defRPr b="1" sz="3600">
                <a:solidFill>
                  <a:srgbClr val="595959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OZ</a:t>
            </a:r>
            <a:r>
              <a:rPr>
                <a:solidFill>
                  <a:srgbClr val="A02B93"/>
                </a:solidFill>
              </a:rPr>
              <a:t>.</a:t>
            </a:r>
          </a:p>
        </p:txBody>
      </p:sp>
      <p:sp>
        <p:nvSpPr>
          <p:cNvPr id="322" name="TextBox 11"/>
          <p:cNvSpPr txBox="1"/>
          <p:nvPr/>
        </p:nvSpPr>
        <p:spPr>
          <a:xfrm>
            <a:off x="5403786" y="4498657"/>
            <a:ext cx="6825110" cy="1534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1500"/>
              </a:lnSpc>
              <a:defRPr b="1" sz="9600">
                <a:solidFill>
                  <a:srgbClr val="40404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defRPr>
            </a:lvl1pPr>
          </a:lstStyle>
          <a:p>
            <a:pPr/>
            <a:r>
              <a:t>Pandas 기초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Freeform 2"/>
          <p:cNvSpPr/>
          <p:nvPr/>
        </p:nvSpPr>
        <p:spPr>
          <a:xfrm>
            <a:off x="914400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7" name="Freeform 3"/>
          <p:cNvSpPr/>
          <p:nvPr/>
        </p:nvSpPr>
        <p:spPr>
          <a:xfrm>
            <a:off x="0" y="-1905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Freeform 4"/>
          <p:cNvSpPr/>
          <p:nvPr/>
        </p:nvSpPr>
        <p:spPr>
          <a:xfrm rot="10800000">
            <a:off x="0" y="514350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9" name="Freeform 5"/>
          <p:cNvSpPr/>
          <p:nvPr/>
        </p:nvSpPr>
        <p:spPr>
          <a:xfrm rot="10800000">
            <a:off x="9117531" y="5143489"/>
            <a:ext cx="9170469" cy="51435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332" name="Group 6"/>
          <p:cNvGrpSpPr/>
          <p:nvPr/>
        </p:nvGrpSpPr>
        <p:grpSpPr>
          <a:xfrm>
            <a:off x="481364" y="1131074"/>
            <a:ext cx="17272351" cy="8840629"/>
            <a:chOff x="0" y="0"/>
            <a:chExt cx="17272350" cy="8840627"/>
          </a:xfrm>
        </p:grpSpPr>
        <p:sp>
          <p:nvSpPr>
            <p:cNvPr id="330" name="Freeform 7"/>
            <p:cNvSpPr/>
            <p:nvPr/>
          </p:nvSpPr>
          <p:spPr>
            <a:xfrm>
              <a:off x="9524" y="9524"/>
              <a:ext cx="17253301" cy="8821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25"/>
                  </a:moveTo>
                  <a:cubicBezTo>
                    <a:pt x="0" y="235"/>
                    <a:pt x="120" y="0"/>
                    <a:pt x="269" y="0"/>
                  </a:cubicBezTo>
                  <a:lnTo>
                    <a:pt x="21331" y="0"/>
                  </a:lnTo>
                  <a:cubicBezTo>
                    <a:pt x="21480" y="0"/>
                    <a:pt x="21600" y="235"/>
                    <a:pt x="21600" y="525"/>
                  </a:cubicBezTo>
                  <a:lnTo>
                    <a:pt x="21600" y="21075"/>
                  </a:lnTo>
                  <a:cubicBezTo>
                    <a:pt x="21600" y="21365"/>
                    <a:pt x="21480" y="21600"/>
                    <a:pt x="21331" y="21600"/>
                  </a:cubicBezTo>
                  <a:lnTo>
                    <a:pt x="269" y="21600"/>
                  </a:lnTo>
                  <a:cubicBezTo>
                    <a:pt x="120" y="21600"/>
                    <a:pt x="0" y="21365"/>
                    <a:pt x="0" y="2107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1" name="Freeform 8"/>
            <p:cNvSpPr/>
            <p:nvPr/>
          </p:nvSpPr>
          <p:spPr>
            <a:xfrm>
              <a:off x="-1" y="-1"/>
              <a:ext cx="17272351" cy="8840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47"/>
                  </a:moveTo>
                  <a:cubicBezTo>
                    <a:pt x="0" y="245"/>
                    <a:pt x="125" y="0"/>
                    <a:pt x="280" y="0"/>
                  </a:cubicBezTo>
                  <a:lnTo>
                    <a:pt x="21320" y="0"/>
                  </a:lnTo>
                  <a:lnTo>
                    <a:pt x="21320" y="23"/>
                  </a:lnTo>
                  <a:lnTo>
                    <a:pt x="21320" y="0"/>
                  </a:lnTo>
                  <a:cubicBezTo>
                    <a:pt x="21475" y="0"/>
                    <a:pt x="21600" y="245"/>
                    <a:pt x="21600" y="547"/>
                  </a:cubicBezTo>
                  <a:lnTo>
                    <a:pt x="21588" y="547"/>
                  </a:lnTo>
                  <a:lnTo>
                    <a:pt x="21600" y="547"/>
                  </a:lnTo>
                  <a:lnTo>
                    <a:pt x="21600" y="21053"/>
                  </a:lnTo>
                  <a:lnTo>
                    <a:pt x="21588" y="21053"/>
                  </a:lnTo>
                  <a:lnTo>
                    <a:pt x="21600" y="21053"/>
                  </a:lnTo>
                  <a:cubicBezTo>
                    <a:pt x="21600" y="21355"/>
                    <a:pt x="21475" y="21600"/>
                    <a:pt x="21320" y="21600"/>
                  </a:cubicBezTo>
                  <a:lnTo>
                    <a:pt x="21320" y="21577"/>
                  </a:lnTo>
                  <a:lnTo>
                    <a:pt x="21320" y="21600"/>
                  </a:lnTo>
                  <a:lnTo>
                    <a:pt x="280" y="21600"/>
                  </a:lnTo>
                  <a:lnTo>
                    <a:pt x="280" y="21577"/>
                  </a:lnTo>
                  <a:lnTo>
                    <a:pt x="280" y="21600"/>
                  </a:lnTo>
                  <a:cubicBezTo>
                    <a:pt x="125" y="21600"/>
                    <a:pt x="0" y="21355"/>
                    <a:pt x="0" y="21053"/>
                  </a:cubicBezTo>
                  <a:lnTo>
                    <a:pt x="0" y="547"/>
                  </a:lnTo>
                  <a:lnTo>
                    <a:pt x="12" y="547"/>
                  </a:lnTo>
                  <a:lnTo>
                    <a:pt x="0" y="547"/>
                  </a:lnTo>
                  <a:moveTo>
                    <a:pt x="24" y="547"/>
                  </a:moveTo>
                  <a:lnTo>
                    <a:pt x="24" y="21053"/>
                  </a:lnTo>
                  <a:lnTo>
                    <a:pt x="12" y="21053"/>
                  </a:lnTo>
                  <a:lnTo>
                    <a:pt x="24" y="21053"/>
                  </a:lnTo>
                  <a:cubicBezTo>
                    <a:pt x="24" y="21329"/>
                    <a:pt x="139" y="21553"/>
                    <a:pt x="280" y="21553"/>
                  </a:cubicBezTo>
                  <a:lnTo>
                    <a:pt x="21320" y="21553"/>
                  </a:lnTo>
                  <a:cubicBezTo>
                    <a:pt x="21461" y="21553"/>
                    <a:pt x="21576" y="21329"/>
                    <a:pt x="21576" y="21053"/>
                  </a:cubicBezTo>
                  <a:lnTo>
                    <a:pt x="21576" y="547"/>
                  </a:lnTo>
                  <a:cubicBezTo>
                    <a:pt x="21576" y="271"/>
                    <a:pt x="21461" y="47"/>
                    <a:pt x="21320" y="47"/>
                  </a:cubicBezTo>
                  <a:lnTo>
                    <a:pt x="280" y="47"/>
                  </a:lnTo>
                  <a:lnTo>
                    <a:pt x="280" y="23"/>
                  </a:lnTo>
                  <a:lnTo>
                    <a:pt x="280" y="47"/>
                  </a:lnTo>
                  <a:cubicBezTo>
                    <a:pt x="139" y="47"/>
                    <a:pt x="24" y="271"/>
                    <a:pt x="24" y="547"/>
                  </a:cubicBezTo>
                  <a:close/>
                </a:path>
              </a:pathLst>
            </a:custGeom>
            <a:solidFill>
              <a:srgbClr val="BFBFB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33" name="TextBox 9"/>
          <p:cNvSpPr txBox="1"/>
          <p:nvPr/>
        </p:nvSpPr>
        <p:spPr>
          <a:xfrm>
            <a:off x="1632679" y="312314"/>
            <a:ext cx="3657601" cy="412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>
                <a:solidFill>
                  <a:srgbClr val="595959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pPr/>
            <a:r>
              <a:t>AI 헬스케어 초격차 캠프 </a:t>
            </a:r>
          </a:p>
        </p:txBody>
      </p:sp>
      <p:sp>
        <p:nvSpPr>
          <p:cNvPr id="334" name="TextBox 10"/>
          <p:cNvSpPr txBox="1"/>
          <p:nvPr/>
        </p:nvSpPr>
        <p:spPr>
          <a:xfrm>
            <a:off x="582330" y="282263"/>
            <a:ext cx="945680" cy="553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300"/>
              </a:lnSpc>
              <a:defRPr b="1" sz="3600">
                <a:solidFill>
                  <a:srgbClr val="595959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OZ</a:t>
            </a:r>
            <a:r>
              <a:rPr>
                <a:solidFill>
                  <a:srgbClr val="A02B93"/>
                </a:solidFill>
              </a:rPr>
              <a:t>.</a:t>
            </a:r>
          </a:p>
        </p:txBody>
      </p:sp>
      <p:sp>
        <p:nvSpPr>
          <p:cNvPr id="335" name="Freeform 12"/>
          <p:cNvSpPr/>
          <p:nvPr/>
        </p:nvSpPr>
        <p:spPr>
          <a:xfrm rot="10800000">
            <a:off x="848904" y="4327299"/>
            <a:ext cx="4057267" cy="3862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8" h="21600" fill="norm" stroke="1" extrusionOk="0">
                <a:moveTo>
                  <a:pt x="21081" y="0"/>
                </a:moveTo>
                <a:lnTo>
                  <a:pt x="26" y="0"/>
                </a:lnTo>
                <a:cubicBezTo>
                  <a:pt x="18" y="0"/>
                  <a:pt x="10" y="38"/>
                  <a:pt x="6" y="102"/>
                </a:cubicBezTo>
                <a:cubicBezTo>
                  <a:pt x="1" y="166"/>
                  <a:pt x="-1" y="250"/>
                  <a:pt x="1" y="330"/>
                </a:cubicBezTo>
                <a:lnTo>
                  <a:pt x="477" y="21270"/>
                </a:lnTo>
                <a:cubicBezTo>
                  <a:pt x="482" y="21464"/>
                  <a:pt x="498" y="21600"/>
                  <a:pt x="517" y="21600"/>
                </a:cubicBezTo>
                <a:lnTo>
                  <a:pt x="21572" y="21600"/>
                </a:lnTo>
                <a:cubicBezTo>
                  <a:pt x="21580" y="21600"/>
                  <a:pt x="21588" y="21562"/>
                  <a:pt x="21592" y="21498"/>
                </a:cubicBezTo>
                <a:cubicBezTo>
                  <a:pt x="21597" y="21434"/>
                  <a:pt x="21599" y="21350"/>
                  <a:pt x="21597" y="21270"/>
                </a:cubicBezTo>
                <a:lnTo>
                  <a:pt x="21121" y="330"/>
                </a:lnTo>
                <a:cubicBezTo>
                  <a:pt x="21116" y="136"/>
                  <a:pt x="21100" y="0"/>
                  <a:pt x="21081" y="0"/>
                </a:cubicBezTo>
                <a:close/>
              </a:path>
            </a:pathLst>
          </a:custGeom>
          <a:solidFill>
            <a:srgbClr val="FFF1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6" name="TextBox 14"/>
          <p:cNvSpPr txBox="1"/>
          <p:nvPr/>
        </p:nvSpPr>
        <p:spPr>
          <a:xfrm>
            <a:off x="967511" y="4070968"/>
            <a:ext cx="3610422" cy="568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400"/>
              </a:lnSpc>
              <a:defRPr b="1" sz="3200">
                <a:solidFill>
                  <a:srgbClr val="444444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defRPr>
            </a:lvl1pPr>
          </a:lstStyle>
          <a:p>
            <a:pPr/>
            <a:r>
              <a:t>Pandas란 무엇인가?</a:t>
            </a:r>
          </a:p>
        </p:txBody>
      </p:sp>
      <p:sp>
        <p:nvSpPr>
          <p:cNvPr id="337" name="TextBox 15"/>
          <p:cNvSpPr txBox="1"/>
          <p:nvPr/>
        </p:nvSpPr>
        <p:spPr>
          <a:xfrm>
            <a:off x="967510" y="5323856"/>
            <a:ext cx="13805193" cy="8124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200"/>
              </a:lnSpc>
              <a:defRPr spc="-115" sz="2500">
                <a:solidFill>
                  <a:srgbClr val="444444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pPr>
            <a:r>
              <a:t>Pandas는 Python의 </a:t>
            </a:r>
            <a:r>
              <a:rPr b="1"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데이터 분석을 위한 핵심 라이브러리</a:t>
            </a:r>
            <a:r>
              <a:t>입니다.</a:t>
            </a:r>
          </a:p>
          <a:p>
            <a:pPr>
              <a:lnSpc>
                <a:spcPts val="3200"/>
              </a:lnSpc>
              <a:defRPr spc="-115" sz="2500">
                <a:solidFill>
                  <a:srgbClr val="444444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pPr>
            <a:r>
              <a:t>엑셀의 스프레드시트와 테이블 형식의 데이터 (DataFrame)를 쉽고 직관적으로 다룰 수 있게 해주는 도구입니다.</a:t>
            </a:r>
          </a:p>
        </p:txBody>
      </p:sp>
      <p:sp>
        <p:nvSpPr>
          <p:cNvPr id="338" name="TextBox 16"/>
          <p:cNvSpPr txBox="1"/>
          <p:nvPr/>
        </p:nvSpPr>
        <p:spPr>
          <a:xfrm>
            <a:off x="9474292" y="323850"/>
            <a:ext cx="7534502" cy="412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3200"/>
              </a:lnSpc>
              <a:defRPr b="1" sz="2700">
                <a:solidFill>
                  <a:srgbClr val="222222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lvl1pPr>
          </a:lstStyle>
          <a:p>
            <a:pPr/>
            <a:r>
              <a:t>Pandas 기초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Freeform 2"/>
          <p:cNvSpPr/>
          <p:nvPr/>
        </p:nvSpPr>
        <p:spPr>
          <a:xfrm>
            <a:off x="914400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3" name="Freeform 3"/>
          <p:cNvSpPr/>
          <p:nvPr/>
        </p:nvSpPr>
        <p:spPr>
          <a:xfrm rot="10800000">
            <a:off x="9117531" y="5143489"/>
            <a:ext cx="9170469" cy="51435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346" name="Group 4"/>
          <p:cNvGrpSpPr/>
          <p:nvPr/>
        </p:nvGrpSpPr>
        <p:grpSpPr>
          <a:xfrm>
            <a:off x="481364" y="1131074"/>
            <a:ext cx="17272351" cy="8840629"/>
            <a:chOff x="0" y="0"/>
            <a:chExt cx="17272350" cy="8840627"/>
          </a:xfrm>
        </p:grpSpPr>
        <p:sp>
          <p:nvSpPr>
            <p:cNvPr id="344" name="Freeform 5"/>
            <p:cNvSpPr/>
            <p:nvPr/>
          </p:nvSpPr>
          <p:spPr>
            <a:xfrm>
              <a:off x="9524" y="9524"/>
              <a:ext cx="17253301" cy="8821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25"/>
                  </a:moveTo>
                  <a:cubicBezTo>
                    <a:pt x="0" y="235"/>
                    <a:pt x="120" y="0"/>
                    <a:pt x="269" y="0"/>
                  </a:cubicBezTo>
                  <a:lnTo>
                    <a:pt x="21331" y="0"/>
                  </a:lnTo>
                  <a:cubicBezTo>
                    <a:pt x="21480" y="0"/>
                    <a:pt x="21600" y="235"/>
                    <a:pt x="21600" y="525"/>
                  </a:cubicBezTo>
                  <a:lnTo>
                    <a:pt x="21600" y="21075"/>
                  </a:lnTo>
                  <a:cubicBezTo>
                    <a:pt x="21600" y="21365"/>
                    <a:pt x="21480" y="21600"/>
                    <a:pt x="21331" y="21600"/>
                  </a:cubicBezTo>
                  <a:lnTo>
                    <a:pt x="269" y="21600"/>
                  </a:lnTo>
                  <a:cubicBezTo>
                    <a:pt x="120" y="21600"/>
                    <a:pt x="0" y="21365"/>
                    <a:pt x="0" y="2107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5" name="Freeform 6"/>
            <p:cNvSpPr/>
            <p:nvPr/>
          </p:nvSpPr>
          <p:spPr>
            <a:xfrm>
              <a:off x="-1" y="-1"/>
              <a:ext cx="17272351" cy="8840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47"/>
                  </a:moveTo>
                  <a:cubicBezTo>
                    <a:pt x="0" y="245"/>
                    <a:pt x="125" y="0"/>
                    <a:pt x="280" y="0"/>
                  </a:cubicBezTo>
                  <a:lnTo>
                    <a:pt x="21320" y="0"/>
                  </a:lnTo>
                  <a:lnTo>
                    <a:pt x="21320" y="23"/>
                  </a:lnTo>
                  <a:lnTo>
                    <a:pt x="21320" y="0"/>
                  </a:lnTo>
                  <a:cubicBezTo>
                    <a:pt x="21475" y="0"/>
                    <a:pt x="21600" y="245"/>
                    <a:pt x="21600" y="547"/>
                  </a:cubicBezTo>
                  <a:lnTo>
                    <a:pt x="21588" y="547"/>
                  </a:lnTo>
                  <a:lnTo>
                    <a:pt x="21600" y="547"/>
                  </a:lnTo>
                  <a:lnTo>
                    <a:pt x="21600" y="21053"/>
                  </a:lnTo>
                  <a:lnTo>
                    <a:pt x="21588" y="21053"/>
                  </a:lnTo>
                  <a:lnTo>
                    <a:pt x="21600" y="21053"/>
                  </a:lnTo>
                  <a:cubicBezTo>
                    <a:pt x="21600" y="21355"/>
                    <a:pt x="21475" y="21600"/>
                    <a:pt x="21320" y="21600"/>
                  </a:cubicBezTo>
                  <a:lnTo>
                    <a:pt x="21320" y="21577"/>
                  </a:lnTo>
                  <a:lnTo>
                    <a:pt x="21320" y="21600"/>
                  </a:lnTo>
                  <a:lnTo>
                    <a:pt x="280" y="21600"/>
                  </a:lnTo>
                  <a:lnTo>
                    <a:pt x="280" y="21577"/>
                  </a:lnTo>
                  <a:lnTo>
                    <a:pt x="280" y="21600"/>
                  </a:lnTo>
                  <a:cubicBezTo>
                    <a:pt x="125" y="21600"/>
                    <a:pt x="0" y="21355"/>
                    <a:pt x="0" y="21053"/>
                  </a:cubicBezTo>
                  <a:lnTo>
                    <a:pt x="0" y="547"/>
                  </a:lnTo>
                  <a:lnTo>
                    <a:pt x="12" y="547"/>
                  </a:lnTo>
                  <a:lnTo>
                    <a:pt x="0" y="547"/>
                  </a:lnTo>
                  <a:moveTo>
                    <a:pt x="24" y="547"/>
                  </a:moveTo>
                  <a:lnTo>
                    <a:pt x="24" y="21053"/>
                  </a:lnTo>
                  <a:lnTo>
                    <a:pt x="12" y="21053"/>
                  </a:lnTo>
                  <a:lnTo>
                    <a:pt x="24" y="21053"/>
                  </a:lnTo>
                  <a:cubicBezTo>
                    <a:pt x="24" y="21329"/>
                    <a:pt x="139" y="21553"/>
                    <a:pt x="280" y="21553"/>
                  </a:cubicBezTo>
                  <a:lnTo>
                    <a:pt x="21320" y="21553"/>
                  </a:lnTo>
                  <a:cubicBezTo>
                    <a:pt x="21461" y="21553"/>
                    <a:pt x="21576" y="21329"/>
                    <a:pt x="21576" y="21053"/>
                  </a:cubicBezTo>
                  <a:lnTo>
                    <a:pt x="21576" y="547"/>
                  </a:lnTo>
                  <a:cubicBezTo>
                    <a:pt x="21576" y="271"/>
                    <a:pt x="21461" y="47"/>
                    <a:pt x="21320" y="47"/>
                  </a:cubicBezTo>
                  <a:lnTo>
                    <a:pt x="280" y="47"/>
                  </a:lnTo>
                  <a:lnTo>
                    <a:pt x="280" y="23"/>
                  </a:lnTo>
                  <a:lnTo>
                    <a:pt x="280" y="47"/>
                  </a:lnTo>
                  <a:cubicBezTo>
                    <a:pt x="139" y="47"/>
                    <a:pt x="24" y="271"/>
                    <a:pt x="24" y="547"/>
                  </a:cubicBezTo>
                  <a:close/>
                </a:path>
              </a:pathLst>
            </a:custGeom>
            <a:solidFill>
              <a:srgbClr val="BFBFB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47" name="TextBox 7"/>
          <p:cNvSpPr txBox="1"/>
          <p:nvPr/>
        </p:nvSpPr>
        <p:spPr>
          <a:xfrm>
            <a:off x="1632679" y="312314"/>
            <a:ext cx="3657601" cy="412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>
                <a:solidFill>
                  <a:srgbClr val="595959"/>
                </a:solidFill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pPr/>
            <a:r>
              <a:t>AI 헬스케어 초격차 캠프 </a:t>
            </a:r>
          </a:p>
        </p:txBody>
      </p:sp>
      <p:sp>
        <p:nvSpPr>
          <p:cNvPr id="348" name="TextBox 8"/>
          <p:cNvSpPr txBox="1"/>
          <p:nvPr/>
        </p:nvSpPr>
        <p:spPr>
          <a:xfrm>
            <a:off x="582330" y="282263"/>
            <a:ext cx="945680" cy="553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300"/>
              </a:lnSpc>
              <a:defRPr b="1" sz="3600">
                <a:solidFill>
                  <a:srgbClr val="595959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pPr>
            <a:r>
              <a:t>OZ</a:t>
            </a:r>
            <a:r>
              <a:rPr>
                <a:solidFill>
                  <a:srgbClr val="A02B93"/>
                </a:solidFill>
              </a:rPr>
              <a:t>.</a:t>
            </a:r>
          </a:p>
        </p:txBody>
      </p:sp>
      <p:sp>
        <p:nvSpPr>
          <p:cNvPr id="349" name="TextBox 9"/>
          <p:cNvSpPr txBox="1"/>
          <p:nvPr/>
        </p:nvSpPr>
        <p:spPr>
          <a:xfrm>
            <a:off x="8382000" y="3299440"/>
            <a:ext cx="1524000" cy="2183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800"/>
              </a:lnSpc>
              <a:defRPr sz="12000">
                <a:solidFill>
                  <a:srgbClr val="444444"/>
                </a:solidFill>
                <a:latin typeface="210 네버랜드 Light"/>
                <a:ea typeface="210 네버랜드 Light"/>
                <a:cs typeface="210 네버랜드 Light"/>
                <a:sym typeface="210 네버랜드 Light"/>
              </a:defRPr>
            </a:lvl1pPr>
          </a:lstStyle>
          <a:p>
            <a:pPr/>
            <a:r>
              <a:t>💻</a:t>
            </a:r>
          </a:p>
        </p:txBody>
      </p:sp>
      <p:sp>
        <p:nvSpPr>
          <p:cNvPr id="350" name="TextBox 10"/>
          <p:cNvSpPr txBox="1"/>
          <p:nvPr/>
        </p:nvSpPr>
        <p:spPr>
          <a:xfrm>
            <a:off x="5701233" y="5484514"/>
            <a:ext cx="6885534" cy="1290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0000"/>
              </a:lnSpc>
              <a:defRPr b="1" sz="7200">
                <a:solidFill>
                  <a:srgbClr val="444444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defRPr>
            </a:lvl1pPr>
          </a:lstStyle>
          <a:p>
            <a:pPr/>
            <a:r>
              <a:t>코드로 작성해보기</a:t>
            </a:r>
          </a:p>
        </p:txBody>
      </p:sp>
      <p:sp>
        <p:nvSpPr>
          <p:cNvPr id="351" name="TextBox 11"/>
          <p:cNvSpPr txBox="1"/>
          <p:nvPr/>
        </p:nvSpPr>
        <p:spPr>
          <a:xfrm>
            <a:off x="9474292" y="323850"/>
            <a:ext cx="7534502" cy="412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3200"/>
              </a:lnSpc>
              <a:defRPr b="1" sz="2700">
                <a:solidFill>
                  <a:srgbClr val="222222"/>
                </a:solidFill>
                <a:latin typeface="Nanum Square Bold"/>
                <a:ea typeface="Nanum Square Bold"/>
                <a:cs typeface="Nanum Square Bold"/>
                <a:sym typeface="Nanum Square Bold"/>
              </a:defRPr>
            </a:lvl1pPr>
          </a:lstStyle>
          <a:p>
            <a:pPr/>
            <a:r>
              <a:t>Pandas 기초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